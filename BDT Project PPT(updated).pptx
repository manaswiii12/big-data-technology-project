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6"/>
  </p:notesMasterIdLst>
  <p:sldIdLst>
    <p:sldId id="256" r:id="rId3"/>
    <p:sldId id="257" r:id="rId4"/>
    <p:sldId id="267" r:id="rId5"/>
    <p:sldId id="258" r:id="rId6"/>
    <p:sldId id="261" r:id="rId7"/>
    <p:sldId id="259" r:id="rId8"/>
    <p:sldId id="260" r:id="rId9"/>
    <p:sldId id="266" r:id="rId10"/>
    <p:sldId id="262" r:id="rId11"/>
    <p:sldId id="268" r:id="rId12"/>
    <p:sldId id="269" r:id="rId13"/>
    <p:sldId id="263" r:id="rId14"/>
    <p:sldId id="265" r:id="rId15"/>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3/6/2026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06-03-2026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06-03-2026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06-03-2026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06-03-2026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06-03-2026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06-03-2026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06-03-2026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06-03-2026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06-03-2026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06-03-2026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arxiv.org/abs/1709.03546" TargetMode="External"/><Relationship Id="rId7" Type="http://schemas.openxmlformats.org/officeDocument/2006/relationships/hyperlink" Target="https://link.springer.com/article/10.1007/s00521-020-04762-8"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sciencedirect.com/science/article/pii/S1877050917322094" TargetMode="External"/><Relationship Id="rId5" Type="http://schemas.openxmlformats.org/officeDocument/2006/relationships/hyperlink" Target="https://ieeexplore.ieee.org/document/7488251" TargetMode="External"/><Relationship Id="rId4" Type="http://schemas.openxmlformats.org/officeDocument/2006/relationships/hyperlink" Target="https://arxiv.org/abs/1802.00316"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ieeexplore.ieee.org/document/611314" TargetMode="External"/><Relationship Id="rId7" Type="http://schemas.openxmlformats.org/officeDocument/2006/relationships/hyperlink" Target="https://dl.acm.org/doi/10.1145/3183713.3196902"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link.springer.com/chapter/10.1007/978-3-319-59888-8_7" TargetMode="External"/><Relationship Id="rId5" Type="http://schemas.openxmlformats.org/officeDocument/2006/relationships/hyperlink" Target="https://spark.apache.org/research.html" TargetMode="External"/><Relationship Id="rId4" Type="http://schemas.openxmlformats.org/officeDocument/2006/relationships/hyperlink" Target="https://research.google/pubs/pub62/"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28519" y="790877"/>
            <a:ext cx="10515600" cy="1128395"/>
          </a:xfrm>
        </p:spPr>
        <p:txBody>
          <a:bodyPr>
            <a:noAutofit/>
          </a:bodyPr>
          <a:lstStyle/>
          <a:p>
            <a:pPr algn="ctr">
              <a:lnSpc>
                <a:spcPct val="100000"/>
              </a:lnSpc>
            </a:pPr>
            <a:r>
              <a:rPr lang="da-DK" sz="3200" b="1" dirty="0">
                <a:solidFill>
                  <a:schemeClr val="accent5">
                    <a:lumMod val="60000"/>
                    <a:lumOff val="40000"/>
                  </a:schemeClr>
                </a:solidFill>
                <a:latin typeface="Times New Roman" panose="02020603050405020304" pitchFamily="18" charset="0"/>
                <a:cs typeface="Times New Roman" panose="02020603050405020304" pitchFamily="18" charset="0"/>
              </a:rPr>
              <a:t>Web Server Log Analysis using Big Data</a:t>
            </a:r>
            <a:br>
              <a:rPr lang="da-DK" sz="800" b="1" dirty="0">
                <a:solidFill>
                  <a:schemeClr val="accent5">
                    <a:lumMod val="60000"/>
                    <a:lumOff val="40000"/>
                  </a:schemeClr>
                </a:solidFill>
                <a:latin typeface="Times New Roman" panose="02020603050405020304" pitchFamily="18" charset="0"/>
                <a:cs typeface="Times New Roman" panose="02020603050405020304" pitchFamily="18" charset="0"/>
              </a:rPr>
            </a:br>
            <a:br>
              <a:rPr lang="da-DK"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REVIEW – 1</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1074419" y="1877449"/>
            <a:ext cx="10515600" cy="2639288"/>
          </a:xfrm>
        </p:spPr>
        <p:txBody>
          <a:bodyPr>
            <a:noAutofit/>
          </a:bodyPr>
          <a:lstStyle/>
          <a:p>
            <a:pPr marL="0" indent="0" algn="ctr">
              <a:buNone/>
            </a:pPr>
            <a:r>
              <a:rPr lang="en-IN" sz="2000" b="1" dirty="0">
                <a:latin typeface="Times New Roman" panose="02020603050405020304" pitchFamily="18" charset="0"/>
                <a:cs typeface="Times New Roman" panose="02020603050405020304" pitchFamily="18" charset="0"/>
              </a:rPr>
              <a:t>Team Members </a:t>
            </a:r>
            <a:endParaRPr lang="en-IN" sz="800" b="1" dirty="0">
              <a:latin typeface="Times New Roman" panose="02020603050405020304" pitchFamily="18" charset="0"/>
              <a:cs typeface="Times New Roman" panose="02020603050405020304" pitchFamily="18" charset="0"/>
            </a:endParaRPr>
          </a:p>
          <a:p>
            <a:pPr marL="0" indent="0" algn="ctr">
              <a:buNone/>
            </a:pPr>
            <a:endParaRPr lang="en-IN" sz="800" b="1" dirty="0">
              <a:latin typeface="Times New Roman" panose="02020603050405020304" pitchFamily="18" charset="0"/>
              <a:cs typeface="Times New Roman" panose="02020603050405020304" pitchFamily="18" charset="0"/>
            </a:endParaRPr>
          </a:p>
          <a:p>
            <a:pPr marL="0" indent="0" algn="ctr">
              <a:buNone/>
            </a:pPr>
            <a:r>
              <a:rPr lang="en-IN" sz="2000" b="1" dirty="0">
                <a:latin typeface="Times New Roman" panose="02020603050405020304" pitchFamily="18" charset="0"/>
                <a:cs typeface="Times New Roman" panose="02020603050405020304" pitchFamily="18" charset="0"/>
              </a:rPr>
              <a:t>Roll No		Name</a:t>
            </a:r>
            <a:endParaRPr lang="en-US" sz="2000" b="1"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                                                            2320030310     M. Manaswi</a:t>
            </a:r>
          </a:p>
          <a:p>
            <a:pPr marL="0" indent="0" algn="just">
              <a:buNone/>
            </a:pPr>
            <a:r>
              <a:rPr lang="en-US" sz="2000" dirty="0">
                <a:latin typeface="Times New Roman" panose="02020603050405020304" pitchFamily="18" charset="0"/>
                <a:cs typeface="Times New Roman" panose="02020603050405020304" pitchFamily="18" charset="0"/>
              </a:rPr>
              <a:t>                                                            2320030302     S. Kusumitha</a:t>
            </a:r>
          </a:p>
          <a:p>
            <a:pPr marL="0" indent="0" algn="just">
              <a:buNone/>
            </a:pPr>
            <a:r>
              <a:rPr lang="en-US" sz="2000" dirty="0">
                <a:latin typeface="Times New Roman" panose="02020603050405020304" pitchFamily="18" charset="0"/>
                <a:cs typeface="Times New Roman" panose="02020603050405020304" pitchFamily="18" charset="0"/>
              </a:rPr>
              <a:t>                                                            2320030069     P. Phani Tejaswi</a:t>
            </a:r>
          </a:p>
          <a:p>
            <a:pPr marL="0" indent="0" algn="ctr">
              <a:buNone/>
            </a:pPr>
            <a:endParaRPr lang="en-US" sz="2000"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06-03-2026</a:t>
            </a:fld>
            <a:endParaRPr lang="en-US"/>
          </a:p>
        </p:txBody>
      </p:sp>
      <p:sp>
        <p:nvSpPr>
          <p:cNvPr id="9" name="Content Placeholder 3"/>
          <p:cNvSpPr txBox="1"/>
          <p:nvPr/>
        </p:nvSpPr>
        <p:spPr>
          <a:xfrm>
            <a:off x="970334" y="5316412"/>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1331260" y="3322663"/>
            <a:ext cx="10515600" cy="1806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just">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4315" y="5250931"/>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215143"/>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535989"/>
            <a:ext cx="10515600" cy="5002923"/>
          </a:xfrm>
        </p:spPr>
        <p:txBody>
          <a:bodyPr>
            <a:normAutofit/>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Abstract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Proposed Method</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Implementation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Architecture</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Module Design</a:t>
            </a:r>
          </a:p>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06-03-2026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REVIEW – 1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A7E42-9C2D-4DE5-B188-1A67A1A3781D}"/>
              </a:ext>
            </a:extLst>
          </p:cNvPr>
          <p:cNvSpPr>
            <a:spLocks noGrp="1"/>
          </p:cNvSpPr>
          <p:nvPr>
            <p:ph type="title"/>
          </p:nvPr>
        </p:nvSpPr>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AC74163D-8A8D-4673-886D-949EFB4AC7F1}"/>
              </a:ext>
            </a:extLst>
          </p:cNvPr>
          <p:cNvSpPr>
            <a:spLocks noGrp="1"/>
          </p:cNvSpPr>
          <p:nvPr>
            <p:ph idx="1"/>
          </p:nvPr>
        </p:nvSpPr>
        <p:spPr/>
        <p:txBody>
          <a:bodyPr>
            <a:normAutofit fontScale="85000" lnSpcReduction="20000"/>
          </a:bodyPr>
          <a:lstStyle/>
          <a:p>
            <a:pPr marL="0" indent="0">
              <a:buNone/>
            </a:pPr>
            <a:r>
              <a:rPr lang="en-US" dirty="0"/>
              <a:t>Web servers generate a large amount of log data that records every user request made to a website. These logs contain important information such as the IP address, timestamp, request type, status code, and response size. Analyzing this log data helps organizations understand user behavior, monitor website traffic, detect system errors, and identify potential security threats. However, traditional log analysis tools face difficulties in processing large-scale datasets efficiently due to limitations in speed and scalability. To address this issue, this project proposes a Web Server Log Analysis system using </a:t>
            </a:r>
            <a:r>
              <a:rPr lang="en-US" b="1" dirty="0"/>
              <a:t>Apache Spark</a:t>
            </a:r>
            <a:r>
              <a:rPr lang="en-US" dirty="0"/>
              <a:t>, a distributed big data processing framework that enables fast data analysis through in-memory computation. The system collects web server log files and processes them using </a:t>
            </a:r>
            <a:r>
              <a:rPr lang="en-US" b="1" dirty="0" err="1"/>
              <a:t>PySpark</a:t>
            </a:r>
            <a:r>
              <a:rPr lang="en-US" b="1" dirty="0"/>
              <a:t> and Spark SQL</a:t>
            </a:r>
            <a:r>
              <a:rPr lang="en-US" dirty="0"/>
              <a:t> to extract meaningful insights such as request frequency, status code distribution, unique visitors, and traffic patterns. The analyzed results are presented through an </a:t>
            </a:r>
            <a:r>
              <a:rPr lang="en-US" b="1" dirty="0"/>
              <a:t>interactive visualization dashboard</a:t>
            </a:r>
            <a:r>
              <a:rPr lang="en-US" dirty="0"/>
              <a:t>, allowing administrators to easily monitor website performance and detect abnormal activities. By utilizing distributed computing and big data analytics, the proposed system improves the efficiency, scalability, and speed of web log analysis.</a:t>
            </a:r>
            <a:endParaRPr lang="en-IN" dirty="0"/>
          </a:p>
        </p:txBody>
      </p:sp>
      <p:sp>
        <p:nvSpPr>
          <p:cNvPr id="4" name="Date Placeholder 3">
            <a:extLst>
              <a:ext uri="{FF2B5EF4-FFF2-40B4-BE49-F238E27FC236}">
                <a16:creationId xmlns:a16="http://schemas.microsoft.com/office/drawing/2014/main" id="{BB4A4403-405E-4F2E-9A2A-41A12C98990E}"/>
              </a:ext>
            </a:extLst>
          </p:cNvPr>
          <p:cNvSpPr>
            <a:spLocks noGrp="1"/>
          </p:cNvSpPr>
          <p:nvPr>
            <p:ph type="dt" sz="half" idx="10"/>
          </p:nvPr>
        </p:nvSpPr>
        <p:spPr/>
        <p:txBody>
          <a:bodyPr/>
          <a:lstStyle/>
          <a:p>
            <a:fld id="{C7A4DE8B-8D6B-8C46-B882-6A2CD2BC96F0}" type="datetime1">
              <a:rPr lang="en-IN" smtClean="0"/>
              <a:t>06-03-2026</a:t>
            </a:fld>
            <a:endParaRPr lang="en-US"/>
          </a:p>
        </p:txBody>
      </p:sp>
      <p:sp>
        <p:nvSpPr>
          <p:cNvPr id="5" name="Footer Placeholder 4">
            <a:extLst>
              <a:ext uri="{FF2B5EF4-FFF2-40B4-BE49-F238E27FC236}">
                <a16:creationId xmlns:a16="http://schemas.microsoft.com/office/drawing/2014/main" id="{B69E491E-E456-4953-90A1-548E280A9DC7}"/>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8E8B2236-9ED8-49FA-A47A-D9D962C0B623}"/>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2762181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05284"/>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433293"/>
            <a:ext cx="10515600" cy="5105619"/>
          </a:xfrm>
        </p:spPr>
        <p:txBody>
          <a:bodyPr>
            <a:normAutofit/>
          </a:bodyPr>
          <a:lstStyle/>
          <a:p>
            <a:r>
              <a:rPr lang="en-US" sz="2000" dirty="0">
                <a:latin typeface="Times New Roman" panose="02020603050405020304" pitchFamily="18" charset="0"/>
                <a:cs typeface="Times New Roman" panose="02020603050405020304" pitchFamily="18" charset="0"/>
              </a:rPr>
              <a:t>Web servers generate large volumes of log data that record every user request, response status, IP address, and access time. Analyzing this log data helps organizations understand user behavior, detect security threats, and optimize system performance.</a:t>
            </a:r>
          </a:p>
          <a:p>
            <a:r>
              <a:rPr lang="en-US" sz="2000" dirty="0">
                <a:latin typeface="Times New Roman" panose="02020603050405020304" pitchFamily="18" charset="0"/>
                <a:cs typeface="Times New Roman" panose="02020603050405020304" pitchFamily="18" charset="0"/>
              </a:rPr>
              <a:t>Traditional log analysis tools struggle to process large-scale datasets efficiently. To address this problem, </a:t>
            </a:r>
            <a:r>
              <a:rPr lang="en-US" sz="2000" b="1" dirty="0">
                <a:latin typeface="Times New Roman" panose="02020603050405020304" pitchFamily="18" charset="0"/>
                <a:cs typeface="Times New Roman" panose="02020603050405020304" pitchFamily="18" charset="0"/>
              </a:rPr>
              <a:t>Apache Spark</a:t>
            </a:r>
            <a:r>
              <a:rPr lang="en-US" sz="2000" dirty="0">
                <a:latin typeface="Times New Roman" panose="02020603050405020304" pitchFamily="18" charset="0"/>
                <a:cs typeface="Times New Roman" panose="02020603050405020304" pitchFamily="18" charset="0"/>
              </a:rPr>
              <a:t>, a distributed big data processing framework, can analyze massive log files quickly using in-memory computation.</a:t>
            </a:r>
          </a:p>
          <a:p>
            <a:r>
              <a:rPr lang="en-US" sz="2000" dirty="0">
                <a:latin typeface="Times New Roman" panose="02020603050405020304" pitchFamily="18" charset="0"/>
                <a:cs typeface="Times New Roman" panose="02020603050405020304" pitchFamily="18" charset="0"/>
              </a:rPr>
              <a:t>This project focuses on building a </a:t>
            </a:r>
            <a:r>
              <a:rPr lang="en-US" sz="2000" b="1" dirty="0">
                <a:latin typeface="Times New Roman" panose="02020603050405020304" pitchFamily="18" charset="0"/>
                <a:cs typeface="Times New Roman" panose="02020603050405020304" pitchFamily="18" charset="0"/>
              </a:rPr>
              <a:t>web-based log analytics system</a:t>
            </a:r>
            <a:r>
              <a:rPr lang="en-US" sz="2000" dirty="0">
                <a:latin typeface="Times New Roman" panose="02020603050405020304" pitchFamily="18" charset="0"/>
                <a:cs typeface="Times New Roman" panose="02020603050405020304" pitchFamily="18" charset="0"/>
              </a:rPr>
              <a:t> that processes server logs and visualizes insights through interactive dashboards.</a:t>
            </a:r>
          </a:p>
          <a:p>
            <a:r>
              <a:rPr lang="en-US" sz="2000" b="1" dirty="0">
                <a:latin typeface="Times New Roman" panose="02020603050405020304" pitchFamily="18" charset="0"/>
                <a:cs typeface="Times New Roman" panose="02020603050405020304" pitchFamily="18" charset="0"/>
              </a:rPr>
              <a:t>Applications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Cybersecurity threat detection</a:t>
            </a:r>
          </a:p>
          <a:p>
            <a:r>
              <a:rPr lang="en-US" sz="2000" dirty="0">
                <a:latin typeface="Times New Roman" panose="02020603050405020304" pitchFamily="18" charset="0"/>
                <a:cs typeface="Times New Roman" panose="02020603050405020304" pitchFamily="18" charset="0"/>
              </a:rPr>
              <a:t>Website traffic monitoring</a:t>
            </a:r>
          </a:p>
          <a:p>
            <a:r>
              <a:rPr lang="en-US" sz="2000" dirty="0">
                <a:latin typeface="Times New Roman" panose="02020603050405020304" pitchFamily="18" charset="0"/>
                <a:cs typeface="Times New Roman" panose="02020603050405020304" pitchFamily="18" charset="0"/>
              </a:rPr>
              <a:t>Performance optimization</a:t>
            </a:r>
          </a:p>
          <a:p>
            <a:r>
              <a:rPr lang="en-US" sz="2000" dirty="0">
                <a:latin typeface="Times New Roman" panose="02020603050405020304" pitchFamily="18" charset="0"/>
                <a:cs typeface="Times New Roman" panose="02020603050405020304" pitchFamily="18" charset="0"/>
              </a:rPr>
              <a:t>User behavior analysis</a:t>
            </a: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06-03-2026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4</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6246225C-C486-FED1-DA4D-888BE9F6A86C}"/>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2011599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a:xfrm>
            <a:off x="1180618" y="297007"/>
            <a:ext cx="10173182" cy="1128009"/>
          </a:xfrm>
        </p:spPr>
        <p:txBody>
          <a:bodyPr/>
          <a:lstStyle/>
          <a:p>
            <a:pPr algn="ctr"/>
            <a:r>
              <a:rPr lang="en-IN" b="1" dirty="0">
                <a:latin typeface="Times New Roman" panose="02020603050405020304" pitchFamily="18" charset="0"/>
                <a:cs typeface="Times New Roman" panose="02020603050405020304" pitchFamily="18" charset="0"/>
              </a:rPr>
              <a:t>Proposed Method</a:t>
            </a:r>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p:txBody>
          <a:bodyPr/>
          <a:lstStyle/>
          <a:p>
            <a:fld id="{196CB346-A29B-614A-90B7-3F58220E4132}" type="datetime1">
              <a:rPr lang="en-IN" smtClean="0"/>
              <a:t>06-03-2026</a:t>
            </a:fld>
            <a:endParaRPr lang="en-US" dirty="0"/>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2201DB43-9F00-00F7-5CD5-CA9274B825F2}"/>
              </a:ext>
            </a:extLst>
          </p:cNvPr>
          <p:cNvSpPr>
            <a:spLocks noGrp="1"/>
          </p:cNvSpPr>
          <p:nvPr>
            <p:ph type="ftr" sz="quarter" idx="11"/>
          </p:nvPr>
        </p:nvSpPr>
        <p:spPr>
          <a:xfrm>
            <a:off x="4038600" y="6356350"/>
            <a:ext cx="4114800" cy="365125"/>
          </a:xfrm>
        </p:spPr>
        <p:txBody>
          <a:bodyPr/>
          <a:lstStyle/>
          <a:p>
            <a:r>
              <a:rPr lang="en-US" dirty="0"/>
              <a:t>REVIEW – 1    </a:t>
            </a:r>
          </a:p>
        </p:txBody>
      </p:sp>
      <p:pic>
        <p:nvPicPr>
          <p:cNvPr id="6" name="Picture 5">
            <a:extLst>
              <a:ext uri="{FF2B5EF4-FFF2-40B4-BE49-F238E27FC236}">
                <a16:creationId xmlns:a16="http://schemas.microsoft.com/office/drawing/2014/main" id="{B474A04B-8818-41B8-3FC7-5E517D2DADAE}"/>
              </a:ext>
            </a:extLst>
          </p:cNvPr>
          <p:cNvPicPr>
            <a:picLocks noChangeAspect="1"/>
          </p:cNvPicPr>
          <p:nvPr/>
        </p:nvPicPr>
        <p:blipFill>
          <a:blip r:embed="rId3"/>
          <a:stretch>
            <a:fillRect/>
          </a:stretch>
        </p:blipFill>
        <p:spPr>
          <a:xfrm>
            <a:off x="260278" y="1425016"/>
            <a:ext cx="11671443" cy="4931334"/>
          </a:xfrm>
          <a:prstGeom prst="rect">
            <a:avLst/>
          </a:prstGeom>
        </p:spPr>
      </p:pic>
    </p:spTree>
    <p:extLst>
      <p:ext uri="{BB962C8B-B14F-4D97-AF65-F5344CB8AC3E}">
        <p14:creationId xmlns:p14="http://schemas.microsoft.com/office/powerpoint/2010/main" val="2762340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262810" y="482363"/>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9" name="Content Placeholder 8">
            <a:extLst>
              <a:ext uri="{FF2B5EF4-FFF2-40B4-BE49-F238E27FC236}">
                <a16:creationId xmlns:a16="http://schemas.microsoft.com/office/drawing/2014/main" id="{207DCC41-9625-D8BE-ED8E-A41DE68AA126}"/>
              </a:ext>
            </a:extLst>
          </p:cNvPr>
          <p:cNvSpPr>
            <a:spLocks noGrp="1"/>
          </p:cNvSpPr>
          <p:nvPr>
            <p:ph idx="1"/>
          </p:nvPr>
        </p:nvSpPr>
        <p:spPr>
          <a:xfrm>
            <a:off x="838200" y="1718552"/>
            <a:ext cx="10515600" cy="5002923"/>
          </a:xfrm>
        </p:spPr>
        <p:txBody>
          <a:bodyPr>
            <a:normAutofit/>
          </a:bodyPr>
          <a:lstStyle/>
          <a:p>
            <a:pPr marL="0" indent="0">
              <a:buNone/>
            </a:pPr>
            <a:endParaRPr lang="en-US" sz="2000" dirty="0"/>
          </a:p>
          <a:p>
            <a:pPr marL="0" indent="0">
              <a:buNone/>
            </a:pPr>
            <a:r>
              <a:rPr lang="en-US" sz="2000" dirty="0">
                <a:latin typeface="Times New Roman" panose="02020603050405020304" pitchFamily="18" charset="0"/>
                <a:cs typeface="Times New Roman" panose="02020603050405020304" pitchFamily="18" charset="0"/>
              </a:rPr>
              <a:t>The main objectives of this project are:</a:t>
            </a:r>
          </a:p>
          <a:p>
            <a:pPr marL="0" indent="0">
              <a:buNone/>
            </a:pPr>
            <a:endParaRPr 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To analyze large-scale web server log data using Apache Spark</a:t>
            </a:r>
            <a:r>
              <a:rPr lang="en-US" altLang="en-US" sz="2000" dirty="0">
                <a:latin typeface="Times New Roman" panose="02020603050405020304" pitchFamily="18" charset="0"/>
                <a:cs typeface="Times New Roman" panose="02020603050405020304" pitchFamily="18" charset="0"/>
              </a:rPr>
              <a:t>.</a:t>
            </a:r>
          </a:p>
          <a:p>
            <a:pPr marL="342900" lvl="0" indent="-342900" eaLnBrk="0" fontAlgn="base" hangingPunct="0">
              <a:lnSpc>
                <a:spcPct val="100000"/>
              </a:lnSpc>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To extract meaningful insights such as traffic patterns, error rates, and user behavior.</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To visualize log analytics results through an interactive dashboard.</a:t>
            </a:r>
          </a:p>
          <a:p>
            <a:pPr marL="342900" lvl="0" indent="-342900" eaLnBrk="0" fontAlgn="base" hangingPunct="0">
              <a:lnSpc>
                <a:spcPct val="100000"/>
              </a:lnSpc>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To detect anomalies such as suspicious login attempts or unusual traffic spikes.</a:t>
            </a: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06-03-2026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B56FACB-3BE6-7710-5AF6-30246594A4B1}"/>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4008404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314183" y="0"/>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06-03-2026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7</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AEA843F7-8A62-A540-2018-E141BD34A93C}"/>
              </a:ext>
            </a:extLst>
          </p:cNvPr>
          <p:cNvSpPr>
            <a:spLocks noGrp="1"/>
          </p:cNvSpPr>
          <p:nvPr>
            <p:ph type="ftr" sz="quarter" idx="11"/>
          </p:nvPr>
        </p:nvSpPr>
        <p:spPr>
          <a:xfrm>
            <a:off x="4038600" y="6356350"/>
            <a:ext cx="4114800" cy="365125"/>
          </a:xfrm>
        </p:spPr>
        <p:txBody>
          <a:bodyPr/>
          <a:lstStyle/>
          <a:p>
            <a:r>
              <a:rPr lang="en-US" dirty="0"/>
              <a:t>REVIEW – 1  </a:t>
            </a:r>
          </a:p>
        </p:txBody>
      </p:sp>
      <p:graphicFrame>
        <p:nvGraphicFramePr>
          <p:cNvPr id="3" name="Content Placeholder 6">
            <a:extLst>
              <a:ext uri="{FF2B5EF4-FFF2-40B4-BE49-F238E27FC236}">
                <a16:creationId xmlns:a16="http://schemas.microsoft.com/office/drawing/2014/main" id="{9E0910E8-64C1-D3C8-E650-99B21DBB429D}"/>
              </a:ext>
            </a:extLst>
          </p:cNvPr>
          <p:cNvGraphicFramePr>
            <a:graphicFrameLocks noGrp="1"/>
          </p:cNvGraphicFramePr>
          <p:nvPr>
            <p:ph idx="1"/>
            <p:extLst>
              <p:ext uri="{D42A27DB-BD31-4B8C-83A1-F6EECF244321}">
                <p14:modId xmlns:p14="http://schemas.microsoft.com/office/powerpoint/2010/main" val="524318495"/>
              </p:ext>
            </p:extLst>
          </p:nvPr>
        </p:nvGraphicFramePr>
        <p:xfrm>
          <a:off x="184935" y="1128008"/>
          <a:ext cx="11815281" cy="5087858"/>
        </p:xfrm>
        <a:graphic>
          <a:graphicData uri="http://schemas.openxmlformats.org/drawingml/2006/table">
            <a:tbl>
              <a:tblPr/>
              <a:tblGrid>
                <a:gridCol w="2917824">
                  <a:extLst>
                    <a:ext uri="{9D8B030D-6E8A-4147-A177-3AD203B41FA5}">
                      <a16:colId xmlns:a16="http://schemas.microsoft.com/office/drawing/2014/main" val="2914338365"/>
                    </a:ext>
                  </a:extLst>
                </a:gridCol>
                <a:gridCol w="2965819">
                  <a:extLst>
                    <a:ext uri="{9D8B030D-6E8A-4147-A177-3AD203B41FA5}">
                      <a16:colId xmlns:a16="http://schemas.microsoft.com/office/drawing/2014/main" val="84625793"/>
                    </a:ext>
                  </a:extLst>
                </a:gridCol>
                <a:gridCol w="2965819">
                  <a:extLst>
                    <a:ext uri="{9D8B030D-6E8A-4147-A177-3AD203B41FA5}">
                      <a16:colId xmlns:a16="http://schemas.microsoft.com/office/drawing/2014/main" val="2110254283"/>
                    </a:ext>
                  </a:extLst>
                </a:gridCol>
                <a:gridCol w="2965819">
                  <a:extLst>
                    <a:ext uri="{9D8B030D-6E8A-4147-A177-3AD203B41FA5}">
                      <a16:colId xmlns:a16="http://schemas.microsoft.com/office/drawing/2014/main" val="671031542"/>
                    </a:ext>
                  </a:extLst>
                </a:gridCol>
              </a:tblGrid>
              <a:tr h="324394">
                <a:tc>
                  <a:txBody>
                    <a:bodyPr/>
                    <a:lstStyle/>
                    <a:p>
                      <a:r>
                        <a:rPr lang="en-US" sz="1800" b="1" dirty="0">
                          <a:latin typeface="Times New Roman" panose="02020603050405020304" pitchFamily="18" charset="0"/>
                          <a:cs typeface="Times New Roman" panose="02020603050405020304" pitchFamily="18" charset="0"/>
                        </a:rPr>
                        <a:t>Paper Title</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latin typeface="Times New Roman" panose="02020603050405020304" pitchFamily="18" charset="0"/>
                          <a:cs typeface="Times New Roman" panose="02020603050405020304" pitchFamily="18" charset="0"/>
                        </a:rPr>
                        <a:t>Reference Link</a:t>
                      </a:r>
                      <a:endParaRPr lang="en-US" sz="180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latin typeface="Times New Roman" panose="02020603050405020304" pitchFamily="18" charset="0"/>
                          <a:cs typeface="Times New Roman" panose="02020603050405020304" pitchFamily="18" charset="0"/>
                        </a:rPr>
                        <a:t>Drawback</a:t>
                      </a:r>
                      <a:endParaRPr lang="en-US" sz="180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dirty="0">
                          <a:latin typeface="Times New Roman" panose="02020603050405020304" pitchFamily="18" charset="0"/>
                          <a:cs typeface="Times New Roman" panose="02020603050405020304" pitchFamily="18" charset="0"/>
                        </a:rPr>
                        <a:t>Future Work</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4944730"/>
                  </a:ext>
                </a:extLst>
              </a:tr>
              <a:tr h="1009041">
                <a:tc>
                  <a:txBody>
                    <a:bodyPr/>
                    <a:lstStyle/>
                    <a:p>
                      <a:r>
                        <a:rPr lang="en-US" sz="1800" dirty="0">
                          <a:latin typeface="Times New Roman" panose="02020603050405020304" pitchFamily="18" charset="0"/>
                          <a:cs typeface="Times New Roman" panose="02020603050405020304" pitchFamily="18" charset="0"/>
                        </a:rPr>
                        <a:t>Large-Scale Web Log Analysis Using Hadoop</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3"/>
                        </a:rPr>
                        <a:t>https://arxiv.org/abs/1709.03546</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High latency due to disk-based processing and lack of real-time analysis.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Can be extended using in-memory processing and real-time streaming frameworks.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5255332"/>
                  </a:ext>
                </a:extLst>
              </a:tr>
              <a:tr h="1009041">
                <a:tc>
                  <a:txBody>
                    <a:bodyPr/>
                    <a:lstStyle/>
                    <a:p>
                      <a:r>
                        <a:rPr lang="en-US" sz="1800">
                          <a:latin typeface="Times New Roman" panose="02020603050405020304" pitchFamily="18" charset="0"/>
                          <a:cs typeface="Times New Roman" panose="02020603050405020304" pitchFamily="18" charset="0"/>
                        </a:rPr>
                        <a:t>Apache Spark for Big Data Processing</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4"/>
                        </a:rPr>
                        <a:t>https://arxiv.org/abs/1802.00316</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Requires high memory resources and complex configuration.</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Optimization techniques and cloud-based deployment can improve performance.</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315708"/>
                  </a:ext>
                </a:extLst>
              </a:tr>
              <a:tr h="890077">
                <a:tc>
                  <a:txBody>
                    <a:bodyPr/>
                    <a:lstStyle/>
                    <a:p>
                      <a:r>
                        <a:rPr lang="da-DK" sz="1800" dirty="0">
                          <a:latin typeface="Times New Roman" panose="02020603050405020304" pitchFamily="18" charset="0"/>
                          <a:cs typeface="Times New Roman" panose="02020603050405020304" pitchFamily="18" charset="0"/>
                        </a:rPr>
                        <a:t>Web Usage Mining from Server Logs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5"/>
                        </a:rPr>
                        <a:t>https://ieeexplore.ieee.org/document/7488251</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Limited to historical data analysis and lacks real-time insights.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Integration with real-time log streams for dynamic behavior analysis.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0724141"/>
                  </a:ext>
                </a:extLst>
              </a:tr>
              <a:tr h="977602">
                <a:tc>
                  <a:txBody>
                    <a:bodyPr/>
                    <a:lstStyle/>
                    <a:p>
                      <a:r>
                        <a:rPr lang="en-US" sz="1800">
                          <a:latin typeface="Times New Roman" panose="02020603050405020304" pitchFamily="18" charset="0"/>
                          <a:cs typeface="Times New Roman" panose="02020603050405020304" pitchFamily="18" charset="0"/>
                        </a:rPr>
                        <a:t>Big Data Analytics for Log Data</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6"/>
                        </a:rPr>
                        <a:t>https://www.sciencedirect.com/science/article/pii/S1877050917322094</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Scalability issues when handling extremely high-velocity data.</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Adoption of distributed streaming platforms for continuous data ingestion.</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6065698"/>
                  </a:ext>
                </a:extLst>
              </a:tr>
              <a:tr h="877703">
                <a:tc>
                  <a:txBody>
                    <a:bodyPr/>
                    <a:lstStyle/>
                    <a:p>
                      <a:r>
                        <a:rPr lang="en-US" sz="1800" dirty="0">
                          <a:latin typeface="Times New Roman" panose="02020603050405020304" pitchFamily="18" charset="0"/>
                          <a:cs typeface="Times New Roman" panose="02020603050405020304" pitchFamily="18" charset="0"/>
                        </a:rPr>
                        <a:t>Real-Time Log Analysis Using Distributed Systems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7"/>
                        </a:rPr>
                        <a:t>https://link.springer.com/article/10.1007/s00521-020-04762-8</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Complex system design and high computational cost.</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Simplified architectures and intelligent anomaly detection methods.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6343738"/>
                  </a:ext>
                </a:extLst>
              </a:tr>
            </a:tbl>
          </a:graphicData>
        </a:graphic>
      </p:graphicFrame>
    </p:spTree>
    <p:extLst>
      <p:ext uri="{BB962C8B-B14F-4D97-AF65-F5344CB8AC3E}">
        <p14:creationId xmlns:p14="http://schemas.microsoft.com/office/powerpoint/2010/main" val="361088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FF11478-B7C6-FBC0-8FF0-5D7B3A73C740}"/>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9E8D27FD-E03A-0E0E-AB3E-38E924EFE1B2}"/>
              </a:ext>
            </a:extLst>
          </p:cNvPr>
          <p:cNvSpPr>
            <a:spLocks noGrp="1"/>
          </p:cNvSpPr>
          <p:nvPr>
            <p:ph type="dt" sz="half" idx="10"/>
          </p:nvPr>
        </p:nvSpPr>
        <p:spPr/>
        <p:txBody>
          <a:bodyPr/>
          <a:lstStyle/>
          <a:p>
            <a:fld id="{196CB346-A29B-614A-90B7-3F58220E4132}" type="datetime1">
              <a:rPr lang="en-IN" smtClean="0"/>
              <a:t>06-03-2026</a:t>
            </a:fld>
            <a:endParaRPr lang="en-US" dirty="0"/>
          </a:p>
        </p:txBody>
      </p:sp>
      <p:sp>
        <p:nvSpPr>
          <p:cNvPr id="7" name="Slide Number Placeholder 6">
            <a:extLst>
              <a:ext uri="{FF2B5EF4-FFF2-40B4-BE49-F238E27FC236}">
                <a16:creationId xmlns:a16="http://schemas.microsoft.com/office/drawing/2014/main" id="{E2EEDCE9-F448-A2FD-439E-14D40CC5EA71}"/>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2" name="Picture 1">
            <a:extLst>
              <a:ext uri="{FF2B5EF4-FFF2-40B4-BE49-F238E27FC236}">
                <a16:creationId xmlns:a16="http://schemas.microsoft.com/office/drawing/2014/main" id="{E5496849-6DCA-E24C-CDD1-97927D50A240}"/>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2C2AA91-0575-402D-E032-7D6EDDE874A6}"/>
              </a:ext>
            </a:extLst>
          </p:cNvPr>
          <p:cNvSpPr>
            <a:spLocks noGrp="1"/>
          </p:cNvSpPr>
          <p:nvPr>
            <p:ph type="ftr" sz="quarter" idx="11"/>
          </p:nvPr>
        </p:nvSpPr>
        <p:spPr>
          <a:xfrm>
            <a:off x="4038600" y="6356350"/>
            <a:ext cx="4114800" cy="365125"/>
          </a:xfrm>
        </p:spPr>
        <p:txBody>
          <a:bodyPr/>
          <a:lstStyle/>
          <a:p>
            <a:r>
              <a:rPr lang="en-US" dirty="0"/>
              <a:t>REVIEW – 1  </a:t>
            </a:r>
          </a:p>
        </p:txBody>
      </p:sp>
      <p:graphicFrame>
        <p:nvGraphicFramePr>
          <p:cNvPr id="3" name="Content Placeholder 6">
            <a:extLst>
              <a:ext uri="{FF2B5EF4-FFF2-40B4-BE49-F238E27FC236}">
                <a16:creationId xmlns:a16="http://schemas.microsoft.com/office/drawing/2014/main" id="{06AF4FFC-A337-4020-6386-2132F82CBCAC}"/>
              </a:ext>
            </a:extLst>
          </p:cNvPr>
          <p:cNvGraphicFramePr>
            <a:graphicFrameLocks noGrp="1"/>
          </p:cNvGraphicFramePr>
          <p:nvPr>
            <p:ph idx="1"/>
            <p:extLst>
              <p:ext uri="{D42A27DB-BD31-4B8C-83A1-F6EECF244321}">
                <p14:modId xmlns:p14="http://schemas.microsoft.com/office/powerpoint/2010/main" val="2107164505"/>
              </p:ext>
            </p:extLst>
          </p:nvPr>
        </p:nvGraphicFramePr>
        <p:xfrm>
          <a:off x="205483" y="877254"/>
          <a:ext cx="11763910" cy="5354114"/>
        </p:xfrm>
        <a:graphic>
          <a:graphicData uri="http://schemas.openxmlformats.org/drawingml/2006/table">
            <a:tbl>
              <a:tblPr/>
              <a:tblGrid>
                <a:gridCol w="2822307">
                  <a:extLst>
                    <a:ext uri="{9D8B030D-6E8A-4147-A177-3AD203B41FA5}">
                      <a16:colId xmlns:a16="http://schemas.microsoft.com/office/drawing/2014/main" val="2914338365"/>
                    </a:ext>
                  </a:extLst>
                </a:gridCol>
                <a:gridCol w="3035755">
                  <a:extLst>
                    <a:ext uri="{9D8B030D-6E8A-4147-A177-3AD203B41FA5}">
                      <a16:colId xmlns:a16="http://schemas.microsoft.com/office/drawing/2014/main" val="84625793"/>
                    </a:ext>
                  </a:extLst>
                </a:gridCol>
                <a:gridCol w="2952924">
                  <a:extLst>
                    <a:ext uri="{9D8B030D-6E8A-4147-A177-3AD203B41FA5}">
                      <a16:colId xmlns:a16="http://schemas.microsoft.com/office/drawing/2014/main" val="2110254283"/>
                    </a:ext>
                  </a:extLst>
                </a:gridCol>
                <a:gridCol w="2952924">
                  <a:extLst>
                    <a:ext uri="{9D8B030D-6E8A-4147-A177-3AD203B41FA5}">
                      <a16:colId xmlns:a16="http://schemas.microsoft.com/office/drawing/2014/main" val="671031542"/>
                    </a:ext>
                  </a:extLst>
                </a:gridCol>
              </a:tblGrid>
              <a:tr h="314542">
                <a:tc>
                  <a:txBody>
                    <a:bodyPr/>
                    <a:lstStyle/>
                    <a:p>
                      <a:r>
                        <a:rPr lang="en-US" sz="1800" b="1" dirty="0">
                          <a:latin typeface="Times New Roman" panose="02020603050405020304" pitchFamily="18" charset="0"/>
                          <a:cs typeface="Times New Roman" panose="02020603050405020304" pitchFamily="18" charset="0"/>
                        </a:rPr>
                        <a:t>Paper Title</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latin typeface="Times New Roman" panose="02020603050405020304" pitchFamily="18" charset="0"/>
                          <a:cs typeface="Times New Roman" panose="02020603050405020304" pitchFamily="18" charset="0"/>
                        </a:rPr>
                        <a:t>Reference Link</a:t>
                      </a:r>
                      <a:endParaRPr lang="en-US" sz="180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latin typeface="Times New Roman" panose="02020603050405020304" pitchFamily="18" charset="0"/>
                          <a:cs typeface="Times New Roman" panose="02020603050405020304" pitchFamily="18" charset="0"/>
                        </a:rPr>
                        <a:t>Drawback</a:t>
                      </a:r>
                      <a:endParaRPr lang="en-US" sz="180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dirty="0">
                          <a:latin typeface="Times New Roman" panose="02020603050405020304" pitchFamily="18" charset="0"/>
                          <a:cs typeface="Times New Roman" panose="02020603050405020304" pitchFamily="18" charset="0"/>
                        </a:rPr>
                        <a:t>Future Work</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4944730"/>
                  </a:ext>
                </a:extLst>
              </a:tr>
              <a:tr h="1080816">
                <a:tc>
                  <a:txBody>
                    <a:bodyPr/>
                    <a:lstStyle/>
                    <a:p>
                      <a:r>
                        <a:rPr lang="da-DK" sz="1800" dirty="0">
                          <a:latin typeface="Times New Roman" panose="02020603050405020304" pitchFamily="18" charset="0"/>
                          <a:cs typeface="Times New Roman" panose="02020603050405020304" pitchFamily="18" charset="0"/>
                        </a:rPr>
                        <a:t>Log Mining for Web Usage Analysis</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3"/>
                        </a:rPr>
                        <a:t>https://ieeexplore.ieee.org/document/611314</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Limited ability to handle large-scale datasets efficiently.</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Use of big data technologies like Spark and Hadoop for scalable analysis.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5255332"/>
                  </a:ext>
                </a:extLst>
              </a:tr>
              <a:tr h="1080816">
                <a:tc>
                  <a:txBody>
                    <a:bodyPr/>
                    <a:lstStyle/>
                    <a:p>
                      <a:r>
                        <a:rPr lang="en-US" sz="1800" dirty="0">
                          <a:latin typeface="Times New Roman" panose="02020603050405020304" pitchFamily="18" charset="0"/>
                          <a:cs typeface="Times New Roman" panose="02020603050405020304" pitchFamily="18" charset="0"/>
                        </a:rPr>
                        <a:t>Big Data Processing Using MapReduce</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4"/>
                        </a:rPr>
                        <a:t>https://research.google/pubs/pub62/</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Slow processing due to disk-based batch processing model.</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Replacement with in-memory computing frameworks such as Apache Spark.</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315708"/>
                  </a:ext>
                </a:extLst>
              </a:tr>
              <a:tr h="953389">
                <a:tc>
                  <a:txBody>
                    <a:bodyPr/>
                    <a:lstStyle/>
                    <a:p>
                      <a:r>
                        <a:rPr lang="en-US" sz="1800" dirty="0">
                          <a:latin typeface="Times New Roman" panose="02020603050405020304" pitchFamily="18" charset="0"/>
                          <a:cs typeface="Times New Roman" panose="02020603050405020304" pitchFamily="18" charset="0"/>
                        </a:rPr>
                        <a:t>Scalable Log Processing with Apache Spark</a:t>
                      </a:r>
                      <a:endParaRPr lang="da-DK"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5"/>
                        </a:rPr>
                        <a:t>https://spark.apache.org/research.html</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High resource consumption in distributed clusters.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Development of optimized algorithms and lightweight processing pipelines.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0724141"/>
                  </a:ext>
                </a:extLst>
              </a:tr>
              <a:tr h="1047141">
                <a:tc>
                  <a:txBody>
                    <a:bodyPr/>
                    <a:lstStyle/>
                    <a:p>
                      <a:r>
                        <a:rPr lang="en-US" sz="1800" dirty="0">
                          <a:latin typeface="Times New Roman" panose="02020603050405020304" pitchFamily="18" charset="0"/>
                          <a:cs typeface="Times New Roman" panose="02020603050405020304" pitchFamily="18" charset="0"/>
                        </a:rPr>
                        <a:t>Web Log Mining Using Data Mining Techniques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6"/>
                        </a:rPr>
                        <a:t>https://link.springer.com/chapter/10.1007/978-3-319-59888-8_7</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Limited support for real-time analytics and anomaly detection.</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Integration with machine learning algorithms for predictive analysis..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6065698"/>
                  </a:ext>
                </a:extLst>
              </a:tr>
              <a:tr h="841358">
                <a:tc>
                  <a:txBody>
                    <a:bodyPr/>
                    <a:lstStyle/>
                    <a:p>
                      <a:r>
                        <a:rPr lang="en-US" sz="1800" dirty="0">
                          <a:latin typeface="Times New Roman" panose="02020603050405020304" pitchFamily="18" charset="0"/>
                          <a:cs typeface="Times New Roman" panose="02020603050405020304" pitchFamily="18" charset="0"/>
                        </a:rPr>
                        <a:t>Distributed Log Analysis for Web Applications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7"/>
                        </a:rPr>
                        <a:t>https://dl.acm.org/doi/10.1145/3183713.3196902</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Difficult system maintenance and complex distributed architecture.</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Automated log monitoring systems with intelligent alert mechanisms.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6343738"/>
                  </a:ext>
                </a:extLst>
              </a:tr>
            </a:tbl>
          </a:graphicData>
        </a:graphic>
      </p:graphicFrame>
    </p:spTree>
    <p:extLst>
      <p:ext uri="{BB962C8B-B14F-4D97-AF65-F5344CB8AC3E}">
        <p14:creationId xmlns:p14="http://schemas.microsoft.com/office/powerpoint/2010/main" val="749269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223709"/>
            <a:ext cx="10173182" cy="1128009"/>
          </a:xfrm>
        </p:spPr>
        <p:txBody>
          <a:bodyPr/>
          <a:lstStyle/>
          <a:p>
            <a:pPr algn="ctr"/>
            <a:r>
              <a:rPr lang="en-IN"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473048" y="1405776"/>
            <a:ext cx="5736770" cy="5452224"/>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Tools and Technologies Used</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Apache Spark</a:t>
            </a:r>
          </a:p>
          <a:p>
            <a:r>
              <a:rPr lang="en-US" sz="2000" dirty="0">
                <a:latin typeface="Times New Roman" panose="02020603050405020304" pitchFamily="18" charset="0"/>
                <a:cs typeface="Times New Roman" panose="02020603050405020304" pitchFamily="18" charset="0"/>
              </a:rPr>
              <a:t>Python (</a:t>
            </a:r>
            <a:r>
              <a:rPr lang="en-US" sz="2000" dirty="0" err="1">
                <a:latin typeface="Times New Roman" panose="02020603050405020304" pitchFamily="18" charset="0"/>
                <a:cs typeface="Times New Roman" panose="02020603050405020304" pitchFamily="18" charset="0"/>
              </a:rPr>
              <a:t>PySpark</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React / Web Dashboard</a:t>
            </a:r>
          </a:p>
          <a:p>
            <a:r>
              <a:rPr lang="en-US" sz="2000" dirty="0">
                <a:latin typeface="Times New Roman" panose="02020603050405020304" pitchFamily="18" charset="0"/>
                <a:cs typeface="Times New Roman" panose="02020603050405020304" pitchFamily="18" charset="0"/>
              </a:rPr>
              <a:t>Node.js / Web Server</a:t>
            </a:r>
          </a:p>
          <a:p>
            <a:r>
              <a:rPr lang="en-US" sz="2000" dirty="0">
                <a:latin typeface="Times New Roman" panose="02020603050405020304" pitchFamily="18" charset="0"/>
                <a:cs typeface="Times New Roman" panose="02020603050405020304" pitchFamily="18" charset="0"/>
              </a:rPr>
              <a:t>Apache / Nginx Log Dataset</a:t>
            </a:r>
          </a:p>
          <a:p>
            <a:r>
              <a:rPr lang="en-US" sz="2000" dirty="0">
                <a:latin typeface="Times New Roman" panose="02020603050405020304" pitchFamily="18" charset="0"/>
                <a:cs typeface="Times New Roman" panose="02020603050405020304" pitchFamily="18" charset="0"/>
              </a:rPr>
              <a:t>Recharts / Data visualization libraries</a:t>
            </a:r>
          </a:p>
          <a:p>
            <a:r>
              <a:rPr lang="en-US" sz="2000" b="1" dirty="0">
                <a:latin typeface="Times New Roman" panose="02020603050405020304" pitchFamily="18" charset="0"/>
                <a:cs typeface="Times New Roman" panose="02020603050405020304" pitchFamily="18" charset="0"/>
              </a:rPr>
              <a:t>Dataset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dataset consists of </a:t>
            </a:r>
            <a:r>
              <a:rPr lang="en-US" sz="2000" b="1" dirty="0">
                <a:latin typeface="Times New Roman" panose="02020603050405020304" pitchFamily="18" charset="0"/>
                <a:cs typeface="Times New Roman" panose="02020603050405020304" pitchFamily="18" charset="0"/>
              </a:rPr>
              <a:t>Apache/Nginx web server logs</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Example log entry:</a:t>
            </a:r>
          </a:p>
          <a:p>
            <a:r>
              <a:rPr lang="en-US" sz="2000" dirty="0">
                <a:latin typeface="Times New Roman" panose="02020603050405020304" pitchFamily="18" charset="0"/>
                <a:cs typeface="Times New Roman" panose="02020603050405020304" pitchFamily="18" charset="0"/>
              </a:rPr>
              <a:t>192.168.1.105 - - [01/Jan/2024:10:15:32 +0000]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"GET /</a:t>
            </a:r>
            <a:r>
              <a:rPr lang="en-US" sz="2000" dirty="0" err="1">
                <a:latin typeface="Times New Roman" panose="02020603050405020304" pitchFamily="18" charset="0"/>
                <a:cs typeface="Times New Roman" panose="02020603050405020304" pitchFamily="18" charset="0"/>
              </a:rPr>
              <a:t>api</a:t>
            </a:r>
            <a:r>
              <a:rPr lang="en-US" sz="2000" dirty="0">
                <a:latin typeface="Times New Roman" panose="02020603050405020304" pitchFamily="18" charset="0"/>
                <a:cs typeface="Times New Roman" panose="02020603050405020304" pitchFamily="18" charset="0"/>
              </a:rPr>
              <a:t>/users HTTP/1.1" 200 1542</a:t>
            </a: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06-03-2026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3B7B457D-38E8-2C64-57F5-E01DF1762DD2}"/>
              </a:ext>
            </a:extLst>
          </p:cNvPr>
          <p:cNvSpPr>
            <a:spLocks noGrp="1"/>
          </p:cNvSpPr>
          <p:nvPr>
            <p:ph type="ftr" sz="quarter" idx="11"/>
          </p:nvPr>
        </p:nvSpPr>
        <p:spPr>
          <a:xfrm>
            <a:off x="4038600" y="6356350"/>
            <a:ext cx="4114800" cy="365125"/>
          </a:xfrm>
        </p:spPr>
        <p:txBody>
          <a:bodyPr/>
          <a:lstStyle/>
          <a:p>
            <a:r>
              <a:rPr lang="en-US" dirty="0"/>
              <a:t>REVIEW – 1   </a:t>
            </a:r>
          </a:p>
        </p:txBody>
      </p:sp>
      <p:sp>
        <p:nvSpPr>
          <p:cNvPr id="4" name="Content Placeholder 8">
            <a:extLst>
              <a:ext uri="{FF2B5EF4-FFF2-40B4-BE49-F238E27FC236}">
                <a16:creationId xmlns:a16="http://schemas.microsoft.com/office/drawing/2014/main" id="{CB451393-98ED-BDA8-C5E5-DF29C79A359A}"/>
              </a:ext>
            </a:extLst>
          </p:cNvPr>
          <p:cNvSpPr txBox="1">
            <a:spLocks/>
          </p:cNvSpPr>
          <p:nvPr/>
        </p:nvSpPr>
        <p:spPr>
          <a:xfrm>
            <a:off x="6366499" y="1423443"/>
            <a:ext cx="5736770" cy="54522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latin typeface="Times New Roman" panose="02020603050405020304" pitchFamily="18" charset="0"/>
                <a:cs typeface="Times New Roman" panose="02020603050405020304" pitchFamily="18" charset="0"/>
              </a:rPr>
              <a:t>Log Fields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IP Address</a:t>
            </a:r>
          </a:p>
          <a:p>
            <a:r>
              <a:rPr lang="en-US" sz="2000" dirty="0">
                <a:latin typeface="Times New Roman" panose="02020603050405020304" pitchFamily="18" charset="0"/>
                <a:cs typeface="Times New Roman" panose="02020603050405020304" pitchFamily="18" charset="0"/>
              </a:rPr>
              <a:t>Timestamp</a:t>
            </a:r>
          </a:p>
          <a:p>
            <a:r>
              <a:rPr lang="en-US" sz="2000" dirty="0">
                <a:latin typeface="Times New Roman" panose="02020603050405020304" pitchFamily="18" charset="0"/>
                <a:cs typeface="Times New Roman" panose="02020603050405020304" pitchFamily="18" charset="0"/>
              </a:rPr>
              <a:t>HTTP Request</a:t>
            </a:r>
          </a:p>
          <a:p>
            <a:r>
              <a:rPr lang="en-US" sz="2000" dirty="0">
                <a:latin typeface="Times New Roman" panose="02020603050405020304" pitchFamily="18" charset="0"/>
                <a:cs typeface="Times New Roman" panose="02020603050405020304" pitchFamily="18" charset="0"/>
              </a:rPr>
              <a:t>Status Code</a:t>
            </a:r>
          </a:p>
          <a:p>
            <a:r>
              <a:rPr lang="en-US" sz="2000" dirty="0">
                <a:latin typeface="Times New Roman" panose="02020603050405020304" pitchFamily="18" charset="0"/>
                <a:cs typeface="Times New Roman" panose="02020603050405020304" pitchFamily="18" charset="0"/>
              </a:rPr>
              <a:t>Response Size</a:t>
            </a:r>
          </a:p>
          <a:p>
            <a:r>
              <a:rPr lang="en-US" sz="2000" dirty="0">
                <a:latin typeface="Times New Roman" panose="02020603050405020304" pitchFamily="18" charset="0"/>
                <a:cs typeface="Times New Roman" panose="02020603050405020304" pitchFamily="18" charset="0"/>
              </a:rPr>
              <a:t>These logs are processed in Spark to generate analytics.</a:t>
            </a:r>
          </a:p>
        </p:txBody>
      </p:sp>
    </p:spTree>
    <p:extLst>
      <p:ext uri="{BB962C8B-B14F-4D97-AF65-F5344CB8AC3E}">
        <p14:creationId xmlns:p14="http://schemas.microsoft.com/office/powerpoint/2010/main" val="3350041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BD42989-49F4-4FB5-A024-34BAE04F1A0D}"/>
              </a:ext>
            </a:extLst>
          </p:cNvPr>
          <p:cNvSpPr>
            <a:spLocks noGrp="1"/>
          </p:cNvSpPr>
          <p:nvPr>
            <p:ph type="dt" sz="half" idx="10"/>
          </p:nvPr>
        </p:nvSpPr>
        <p:spPr/>
        <p:txBody>
          <a:bodyPr/>
          <a:lstStyle/>
          <a:p>
            <a:fld id="{C7A4DE8B-8D6B-8C46-B882-6A2CD2BC96F0}" type="datetime1">
              <a:rPr lang="en-IN" smtClean="0"/>
              <a:t>06-03-2026</a:t>
            </a:fld>
            <a:endParaRPr lang="en-US"/>
          </a:p>
        </p:txBody>
      </p:sp>
      <p:sp>
        <p:nvSpPr>
          <p:cNvPr id="5" name="Footer Placeholder 4">
            <a:extLst>
              <a:ext uri="{FF2B5EF4-FFF2-40B4-BE49-F238E27FC236}">
                <a16:creationId xmlns:a16="http://schemas.microsoft.com/office/drawing/2014/main" id="{F95A3053-7A8E-4139-8976-14C89E1FC2D5}"/>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FE8DBC2E-C673-4C4D-A1C8-29A6BAB884E0}"/>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12" name="Content Placeholder 11">
            <a:extLst>
              <a:ext uri="{FF2B5EF4-FFF2-40B4-BE49-F238E27FC236}">
                <a16:creationId xmlns:a16="http://schemas.microsoft.com/office/drawing/2014/main" id="{819A6FD0-E5BF-4592-903E-0702F144CBBE}"/>
              </a:ext>
            </a:extLst>
          </p:cNvPr>
          <p:cNvPicPr>
            <a:picLocks noGrp="1" noChangeAspect="1"/>
          </p:cNvPicPr>
          <p:nvPr>
            <p:ph idx="1"/>
          </p:nvPr>
        </p:nvPicPr>
        <p:blipFill>
          <a:blip r:embed="rId2"/>
          <a:stretch>
            <a:fillRect/>
          </a:stretch>
        </p:blipFill>
        <p:spPr>
          <a:xfrm>
            <a:off x="1047750" y="1157010"/>
            <a:ext cx="9754961" cy="3972479"/>
          </a:xfrm>
        </p:spPr>
      </p:pic>
    </p:spTree>
    <p:extLst>
      <p:ext uri="{BB962C8B-B14F-4D97-AF65-F5344CB8AC3E}">
        <p14:creationId xmlns:p14="http://schemas.microsoft.com/office/powerpoint/2010/main" val="2453147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FC44E23F-4CEE-4E85-B4CE-59146061F32F}"/>
              </a:ext>
            </a:extLst>
          </p:cNvPr>
          <p:cNvPicPr>
            <a:picLocks noGrp="1" noChangeAspect="1"/>
          </p:cNvPicPr>
          <p:nvPr>
            <p:ph idx="1"/>
          </p:nvPr>
        </p:nvPicPr>
        <p:blipFill>
          <a:blip r:embed="rId2"/>
          <a:stretch>
            <a:fillRect/>
          </a:stretch>
        </p:blipFill>
        <p:spPr>
          <a:xfrm>
            <a:off x="2357437" y="785813"/>
            <a:ext cx="6586537" cy="5391150"/>
          </a:xfrm>
        </p:spPr>
      </p:pic>
      <p:sp>
        <p:nvSpPr>
          <p:cNvPr id="4" name="Date Placeholder 3">
            <a:extLst>
              <a:ext uri="{FF2B5EF4-FFF2-40B4-BE49-F238E27FC236}">
                <a16:creationId xmlns:a16="http://schemas.microsoft.com/office/drawing/2014/main" id="{22B35D4A-3AD7-4A05-93DE-6AFB339F7647}"/>
              </a:ext>
            </a:extLst>
          </p:cNvPr>
          <p:cNvSpPr>
            <a:spLocks noGrp="1"/>
          </p:cNvSpPr>
          <p:nvPr>
            <p:ph type="dt" sz="half" idx="10"/>
          </p:nvPr>
        </p:nvSpPr>
        <p:spPr/>
        <p:txBody>
          <a:bodyPr/>
          <a:lstStyle/>
          <a:p>
            <a:fld id="{C7A4DE8B-8D6B-8C46-B882-6A2CD2BC96F0}" type="datetime1">
              <a:rPr lang="en-IN" smtClean="0"/>
              <a:t>06-03-2026</a:t>
            </a:fld>
            <a:endParaRPr lang="en-US"/>
          </a:p>
        </p:txBody>
      </p:sp>
      <p:sp>
        <p:nvSpPr>
          <p:cNvPr id="5" name="Footer Placeholder 4">
            <a:extLst>
              <a:ext uri="{FF2B5EF4-FFF2-40B4-BE49-F238E27FC236}">
                <a16:creationId xmlns:a16="http://schemas.microsoft.com/office/drawing/2014/main" id="{2B253B25-3973-4CA9-BB92-350202F7692C}"/>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622B443C-3C5D-4E47-8624-86547F071C7A}"/>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3917848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45034"/>
            <a:ext cx="10173182" cy="1128009"/>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0E914A49-19F6-51A2-7E86-293A5277485B}"/>
              </a:ext>
            </a:extLst>
          </p:cNvPr>
          <p:cNvSpPr>
            <a:spLocks noGrp="1"/>
          </p:cNvSpPr>
          <p:nvPr>
            <p:ph idx="1"/>
          </p:nvPr>
        </p:nvSpPr>
        <p:spPr>
          <a:xfrm>
            <a:off x="838200" y="1473044"/>
            <a:ext cx="10515600" cy="5248432"/>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This project demonstrates how </a:t>
            </a:r>
            <a:r>
              <a:rPr lang="en-US" sz="2000" b="1" dirty="0">
                <a:latin typeface="Times New Roman" panose="02020603050405020304" pitchFamily="18" charset="0"/>
                <a:cs typeface="Times New Roman" panose="02020603050405020304" pitchFamily="18" charset="0"/>
              </a:rPr>
              <a:t>Apache Spark can efficiently analyze large-scale web server logs</a:t>
            </a:r>
            <a:r>
              <a:rPr lang="en-US" sz="2000" dirty="0">
                <a:latin typeface="Times New Roman" panose="02020603050405020304" pitchFamily="18" charset="0"/>
                <a:cs typeface="Times New Roman" panose="02020603050405020304" pitchFamily="18" charset="0"/>
              </a:rPr>
              <a:t>. By using distributed computing and in-memory processing, the system can process millions of log entries quickly.</a:t>
            </a:r>
          </a:p>
          <a:p>
            <a:r>
              <a:rPr lang="en-US" sz="2000" dirty="0">
                <a:latin typeface="Times New Roman" panose="02020603050405020304" pitchFamily="18" charset="0"/>
                <a:cs typeface="Times New Roman" panose="02020603050405020304" pitchFamily="18" charset="0"/>
              </a:rPr>
              <a:t>The developed system provides:</a:t>
            </a:r>
          </a:p>
          <a:p>
            <a:r>
              <a:rPr lang="en-US" sz="2000" dirty="0">
                <a:latin typeface="Times New Roman" panose="02020603050405020304" pitchFamily="18" charset="0"/>
                <a:cs typeface="Times New Roman" panose="02020603050405020304" pitchFamily="18" charset="0"/>
              </a:rPr>
              <a:t>Faster log processing</a:t>
            </a:r>
          </a:p>
          <a:p>
            <a:r>
              <a:rPr lang="en-US" sz="2000" dirty="0">
                <a:latin typeface="Times New Roman" panose="02020603050405020304" pitchFamily="18" charset="0"/>
                <a:cs typeface="Times New Roman" panose="02020603050405020304" pitchFamily="18" charset="0"/>
              </a:rPr>
              <a:t>Real-time insights through dashboards</a:t>
            </a:r>
          </a:p>
          <a:p>
            <a:r>
              <a:rPr lang="en-US" sz="2000" dirty="0">
                <a:latin typeface="Times New Roman" panose="02020603050405020304" pitchFamily="18" charset="0"/>
                <a:cs typeface="Times New Roman" panose="02020603050405020304" pitchFamily="18" charset="0"/>
              </a:rPr>
              <a:t>Detection of anomalies and error patterns</a:t>
            </a:r>
          </a:p>
          <a:p>
            <a:pPr marL="0" indent="0">
              <a:buNone/>
            </a:pPr>
            <a:r>
              <a:rPr lang="en-US" sz="2000" b="1" dirty="0">
                <a:latin typeface="Times New Roman" panose="02020603050405020304" pitchFamily="18" charset="0"/>
                <a:cs typeface="Times New Roman" panose="02020603050405020304" pitchFamily="18" charset="0"/>
              </a:rPr>
              <a:t>Future Work</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Real-time streaming log analysis using Spark Streaming</a:t>
            </a:r>
          </a:p>
          <a:p>
            <a:r>
              <a:rPr lang="en-US" sz="2000" dirty="0">
                <a:latin typeface="Times New Roman" panose="02020603050405020304" pitchFamily="18" charset="0"/>
                <a:cs typeface="Times New Roman" panose="02020603050405020304" pitchFamily="18" charset="0"/>
              </a:rPr>
              <a:t>Integration with security monitoring systems</a:t>
            </a:r>
          </a:p>
          <a:p>
            <a:r>
              <a:rPr lang="en-US" sz="2000" dirty="0">
                <a:latin typeface="Times New Roman" panose="02020603050405020304" pitchFamily="18" charset="0"/>
                <a:cs typeface="Times New Roman" panose="02020603050405020304" pitchFamily="18" charset="0"/>
              </a:rPr>
              <a:t>Machine learning for anomaly detection</a:t>
            </a:r>
          </a:p>
          <a:p>
            <a:pPr marL="0" indent="0"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8B060C3-9089-9B01-F1D8-C97A09A9736A}"/>
              </a:ext>
            </a:extLst>
          </p:cNvPr>
          <p:cNvSpPr>
            <a:spLocks noGrp="1"/>
          </p:cNvSpPr>
          <p:nvPr>
            <p:ph type="dt" sz="half" idx="10"/>
          </p:nvPr>
        </p:nvSpPr>
        <p:spPr/>
        <p:txBody>
          <a:bodyPr/>
          <a:lstStyle/>
          <a:p>
            <a:fld id="{196CB346-A29B-614A-90B7-3F58220E4132}" type="datetime1">
              <a:rPr lang="en-IN" smtClean="0"/>
              <a:t>06-03-2026</a:t>
            </a:fld>
            <a:endParaRPr lang="en-US" dirty="0"/>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2" name="Picture 1">
            <a:extLst>
              <a:ext uri="{FF2B5EF4-FFF2-40B4-BE49-F238E27FC236}">
                <a16:creationId xmlns:a16="http://schemas.microsoft.com/office/drawing/2014/main" id="{1564F053-0075-BD19-F8FF-9AAA1B64705D}"/>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187A4474-F3F0-CAB1-93F1-9BF4015FB49E}"/>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716463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06-03-2026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13</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a:xfrm>
            <a:off x="4038600" y="6356350"/>
            <a:ext cx="4114800" cy="365125"/>
          </a:xfrm>
        </p:spPr>
        <p:txBody>
          <a:bodyPr/>
          <a:lstStyle/>
          <a:p>
            <a:r>
              <a:rPr lang="en-US" dirty="0"/>
              <a:t>REVIEW – 1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TotalTime>
  <Words>1060</Words>
  <Application>Microsoft Office PowerPoint</Application>
  <PresentationFormat>Widescreen</PresentationFormat>
  <Paragraphs>167</Paragraphs>
  <Slides>13</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Arial</vt:lpstr>
      <vt:lpstr>Calibri</vt:lpstr>
      <vt:lpstr>Calibri Light</vt:lpstr>
      <vt:lpstr>Times New Roman</vt:lpstr>
      <vt:lpstr>Office Theme</vt:lpstr>
      <vt:lpstr>Custom Design</vt:lpstr>
      <vt:lpstr>Web Server Log Analysis using Big Data  REVIEW – 1  </vt:lpstr>
      <vt:lpstr>Outline</vt:lpstr>
      <vt:lpstr>Abstract</vt:lpstr>
      <vt:lpstr>Introduction</vt:lpstr>
      <vt:lpstr>Proposed Method</vt:lpstr>
      <vt:lpstr>Objectives </vt:lpstr>
      <vt:lpstr>Literature Survey</vt:lpstr>
      <vt:lpstr>PowerPoint Presentation</vt:lpstr>
      <vt:lpstr>Implementation</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Server Log Analysis using Big Data  REVIEW – 1</dc:title>
  <dc:creator>Dell</dc:creator>
  <cp:lastModifiedBy>Manaswi 12</cp:lastModifiedBy>
  <cp:revision>9</cp:revision>
  <dcterms:modified xsi:type="dcterms:W3CDTF">2026-03-06T04:09:41Z</dcterms:modified>
</cp:coreProperties>
</file>