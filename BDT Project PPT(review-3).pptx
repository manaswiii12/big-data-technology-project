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9"/>
  </p:notesMasterIdLst>
  <p:sldIdLst>
    <p:sldId id="256" r:id="rId3"/>
    <p:sldId id="257" r:id="rId4"/>
    <p:sldId id="267" r:id="rId5"/>
    <p:sldId id="258" r:id="rId6"/>
    <p:sldId id="261" r:id="rId7"/>
    <p:sldId id="259" r:id="rId8"/>
    <p:sldId id="270" r:id="rId9"/>
    <p:sldId id="260" r:id="rId10"/>
    <p:sldId id="266" r:id="rId11"/>
    <p:sldId id="262" r:id="rId12"/>
    <p:sldId id="271" r:id="rId13"/>
    <p:sldId id="268" r:id="rId14"/>
    <p:sldId id="269" r:id="rId15"/>
    <p:sldId id="273" r:id="rId16"/>
    <p:sldId id="263" r:id="rId17"/>
    <p:sldId id="265" r:id="rId18"/>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4/1/2026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01-04-2026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01-04-2026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01-04-2026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01-04-2026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01-04-2026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1709.03546" TargetMode="External"/><Relationship Id="rId7" Type="http://schemas.openxmlformats.org/officeDocument/2006/relationships/hyperlink" Target="https://link.springer.com/article/10.1007/s00521-020-04762-8"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22094" TargetMode="External"/><Relationship Id="rId5" Type="http://schemas.openxmlformats.org/officeDocument/2006/relationships/hyperlink" Target="https://ieeexplore.ieee.org/document/7488251" TargetMode="External"/><Relationship Id="rId4" Type="http://schemas.openxmlformats.org/officeDocument/2006/relationships/hyperlink" Target="https://arxiv.org/abs/1802.00316"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ieeexplore.ieee.org/document/611314" TargetMode="External"/><Relationship Id="rId7" Type="http://schemas.openxmlformats.org/officeDocument/2006/relationships/hyperlink" Target="https://dl.acm.org/doi/10.1145/3183713.319690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link.springer.com/chapter/10.1007/978-3-319-59888-8_7" TargetMode="External"/><Relationship Id="rId5" Type="http://schemas.openxmlformats.org/officeDocument/2006/relationships/hyperlink" Target="https://spark.apache.org/research.html" TargetMode="External"/><Relationship Id="rId4" Type="http://schemas.openxmlformats.org/officeDocument/2006/relationships/hyperlink" Target="https://research.google/pubs/pub62/"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28519" y="790877"/>
            <a:ext cx="10515600" cy="1128395"/>
          </a:xfrm>
        </p:spPr>
        <p:txBody>
          <a:bodyPr>
            <a:noAutofit/>
          </a:bodyPr>
          <a:lstStyle/>
          <a:p>
            <a:pPr algn="ctr">
              <a:lnSpc>
                <a:spcPct val="100000"/>
              </a:lnSpc>
            </a:pPr>
            <a: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t>Web Server Log Analysis using Big Data</a:t>
            </a:r>
            <a:br>
              <a:rPr lang="da-DK" sz="8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2320030310     M. Manaswi</a:t>
            </a:r>
          </a:p>
          <a:p>
            <a:pPr marL="0" indent="0" algn="just">
              <a:buNone/>
            </a:pPr>
            <a:r>
              <a:rPr lang="en-US" sz="2000" dirty="0">
                <a:latin typeface="Times New Roman" panose="02020603050405020304" pitchFamily="18" charset="0"/>
                <a:cs typeface="Times New Roman" panose="02020603050405020304" pitchFamily="18" charset="0"/>
              </a:rPr>
              <a:t>                                                            2320030302     S. Kusumitha</a:t>
            </a:r>
          </a:p>
          <a:p>
            <a:pPr marL="0" indent="0" algn="just">
              <a:buNone/>
            </a:pPr>
            <a:r>
              <a:rPr lang="en-US" sz="2000" dirty="0">
                <a:latin typeface="Times New Roman" panose="02020603050405020304" pitchFamily="18" charset="0"/>
                <a:cs typeface="Times New Roman" panose="02020603050405020304" pitchFamily="18" charset="0"/>
              </a:rPr>
              <a:t>                                                            2320030069     P. Phani Tejaswi</a:t>
            </a: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01-04-2026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343152"/>
            <a:ext cx="10515600" cy="5013197"/>
          </a:xfrm>
        </p:spPr>
        <p:txBody>
          <a:bodyPr>
            <a:normAutofit fontScale="92500" lnSpcReduction="10000"/>
          </a:bodyPr>
          <a:lstStyle/>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Module wise Implementations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Comparison and Discussion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Architecture</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Module Design</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Results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7E42-9C2D-4DE5-B188-1A67A1A3781D}"/>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74163D-8A8D-4673-886D-949EFB4AC7F1}"/>
              </a:ext>
            </a:extLst>
          </p:cNvPr>
          <p:cNvSpPr>
            <a:spLocks noGrp="1"/>
          </p:cNvSpPr>
          <p:nvPr>
            <p:ph idx="1"/>
          </p:nvPr>
        </p:nvSpPr>
        <p:spPr>
          <a:xfrm>
            <a:off x="838200" y="1900237"/>
            <a:ext cx="10515600" cy="4029076"/>
          </a:xfrm>
        </p:spPr>
        <p:txBody>
          <a:bodyPr>
            <a:normAutofit/>
          </a:bodyPr>
          <a:lstStyle/>
          <a:p>
            <a:pPr marL="0" indent="0">
              <a:buNone/>
            </a:pPr>
            <a:r>
              <a:rPr lang="en-US" sz="2000" dirty="0"/>
              <a:t>Web servers generate </a:t>
            </a:r>
            <a:r>
              <a:rPr lang="en-US" sz="2000" b="1" dirty="0"/>
              <a:t>large volumes </a:t>
            </a:r>
            <a:r>
              <a:rPr lang="en-US" sz="2000" dirty="0"/>
              <a:t>of log data that record every user request to a website. These logs contain important information such </a:t>
            </a:r>
            <a:r>
              <a:rPr lang="en-US" sz="2000" b="1" dirty="0"/>
              <a:t>as IP address, timestamp, request type, status code, and response size</a:t>
            </a:r>
            <a:r>
              <a:rPr lang="en-US" sz="2000" dirty="0"/>
              <a:t>. Analyzing this log data helps organizations understand user</a:t>
            </a:r>
            <a:r>
              <a:rPr lang="en-US" sz="2000" b="1" dirty="0"/>
              <a:t> behavior, monitor website traffic, detect system errors, and identify security threats</a:t>
            </a:r>
            <a:r>
              <a:rPr lang="en-US" sz="2000" dirty="0"/>
              <a:t>. However, traditional log analysis tools face challenges in handling large-scale data efficiently due to limitations in speed and scalability. To overcome this problem, this project proposes a Web Server Log Analysis system using </a:t>
            </a:r>
            <a:r>
              <a:rPr lang="en-US" sz="2000" b="1" dirty="0"/>
              <a:t>Apache Spark</a:t>
            </a:r>
            <a:r>
              <a:rPr lang="en-US" sz="2000" dirty="0"/>
              <a:t>, a distributed big data processing framework that enables </a:t>
            </a:r>
            <a:r>
              <a:rPr lang="en-US" sz="2000" b="1" dirty="0"/>
              <a:t>fast and scalable data </a:t>
            </a:r>
            <a:r>
              <a:rPr lang="en-US" sz="2000" dirty="0"/>
              <a:t>processing through in-memory computation. The system collects web server log files and processes them using </a:t>
            </a:r>
            <a:r>
              <a:rPr lang="en-US" sz="2000" b="1" dirty="0" err="1"/>
              <a:t>PySpark</a:t>
            </a:r>
            <a:r>
              <a:rPr lang="en-US" sz="2000" b="1" dirty="0"/>
              <a:t> and Spark SQL</a:t>
            </a:r>
            <a:r>
              <a:rPr lang="en-US" sz="2000" dirty="0"/>
              <a:t> to extract useful insights such as </a:t>
            </a:r>
            <a:r>
              <a:rPr lang="en-US" sz="2000" b="1" dirty="0"/>
              <a:t>request frequency, status code distribution, unique visitors, and traffic patterns</a:t>
            </a:r>
            <a:r>
              <a:rPr lang="en-US" sz="2000" dirty="0"/>
              <a:t>. The analyzed results are displayed through an interactive </a:t>
            </a:r>
            <a:r>
              <a:rPr lang="en-US" sz="2000" b="1" dirty="0"/>
              <a:t>visualization dashboard</a:t>
            </a:r>
            <a:r>
              <a:rPr lang="en-US" sz="2000" dirty="0"/>
              <a:t>, which helps administrators monitor </a:t>
            </a:r>
            <a:r>
              <a:rPr lang="en-US" sz="2000" b="1" dirty="0"/>
              <a:t>system performance </a:t>
            </a:r>
            <a:r>
              <a:rPr lang="en-US" sz="2000" dirty="0"/>
              <a:t>and detect abnormal activities efficiently.</a:t>
            </a:r>
            <a:endParaRPr lang="en-IN" sz="2000" dirty="0"/>
          </a:p>
        </p:txBody>
      </p:sp>
      <p:sp>
        <p:nvSpPr>
          <p:cNvPr id="4" name="Date Placeholder 3">
            <a:extLst>
              <a:ext uri="{FF2B5EF4-FFF2-40B4-BE49-F238E27FC236}">
                <a16:creationId xmlns:a16="http://schemas.microsoft.com/office/drawing/2014/main" id="{BB4A4403-405E-4F2E-9A2A-41A12C98990E}"/>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B69E491E-E456-4953-90A1-548E280A9DC7}"/>
              </a:ext>
            </a:extLst>
          </p:cNvPr>
          <p:cNvSpPr>
            <a:spLocks noGrp="1"/>
          </p:cNvSpPr>
          <p:nvPr>
            <p:ph type="ftr" sz="quarter" idx="11"/>
          </p:nvPr>
        </p:nvSpPr>
        <p:spPr/>
        <p:txBody>
          <a:bodyPr/>
          <a:lstStyle/>
          <a:p>
            <a:r>
              <a:rPr lang="en-US" dirty="0"/>
              <a:t>REVIEW – 1 / 2 / 3    173030211    Department of CSE</a:t>
            </a:r>
          </a:p>
        </p:txBody>
      </p:sp>
      <p:sp>
        <p:nvSpPr>
          <p:cNvPr id="6" name="Slide Number Placeholder 5">
            <a:extLst>
              <a:ext uri="{FF2B5EF4-FFF2-40B4-BE49-F238E27FC236}">
                <a16:creationId xmlns:a16="http://schemas.microsoft.com/office/drawing/2014/main" id="{8E8B2236-9ED8-49FA-A47A-D9D962C0B623}"/>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6218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r>
              <a:rPr lang="en-US" sz="2000" dirty="0">
                <a:latin typeface="Times New Roman" panose="02020603050405020304" pitchFamily="18" charset="0"/>
                <a:cs typeface="Times New Roman" panose="02020603050405020304" pitchFamily="18" charset="0"/>
              </a:rPr>
              <a:t>Web servers generate large volumes of log data that record every user request, response status, IP address, and access time. Analyzing this log data helps organizations understand user behavior, detect security threats, and optimize system performance.</a:t>
            </a:r>
          </a:p>
          <a:p>
            <a:r>
              <a:rPr lang="en-US" sz="2000" dirty="0">
                <a:latin typeface="Times New Roman" panose="02020603050405020304" pitchFamily="18" charset="0"/>
                <a:cs typeface="Times New Roman" panose="02020603050405020304" pitchFamily="18" charset="0"/>
              </a:rPr>
              <a:t>Traditional log analysis tools struggle to process large-scale datasets efficiently. To address this problem, </a:t>
            </a:r>
            <a:r>
              <a:rPr lang="en-US" sz="2000" b="1" dirty="0">
                <a:latin typeface="Times New Roman" panose="02020603050405020304" pitchFamily="18" charset="0"/>
                <a:cs typeface="Times New Roman" panose="02020603050405020304" pitchFamily="18" charset="0"/>
              </a:rPr>
              <a:t>Apache Spark</a:t>
            </a:r>
            <a:r>
              <a:rPr lang="en-US" sz="2000" dirty="0">
                <a:latin typeface="Times New Roman" panose="02020603050405020304" pitchFamily="18" charset="0"/>
                <a:cs typeface="Times New Roman" panose="02020603050405020304" pitchFamily="18" charset="0"/>
              </a:rPr>
              <a:t>, a distributed big data processing framework, can analyze massive log files quickly using in-memory computation.</a:t>
            </a:r>
          </a:p>
          <a:p>
            <a:r>
              <a:rPr lang="en-US" sz="2000" dirty="0">
                <a:latin typeface="Times New Roman" panose="02020603050405020304" pitchFamily="18" charset="0"/>
                <a:cs typeface="Times New Roman" panose="02020603050405020304" pitchFamily="18" charset="0"/>
              </a:rPr>
              <a:t>This project focuses on building a </a:t>
            </a:r>
            <a:r>
              <a:rPr lang="en-US" sz="2000" b="1" dirty="0">
                <a:latin typeface="Times New Roman" panose="02020603050405020304" pitchFamily="18" charset="0"/>
                <a:cs typeface="Times New Roman" panose="02020603050405020304" pitchFamily="18" charset="0"/>
              </a:rPr>
              <a:t>web-based log analytics system</a:t>
            </a:r>
            <a:r>
              <a:rPr lang="en-US" sz="2000" dirty="0">
                <a:latin typeface="Times New Roman" panose="02020603050405020304" pitchFamily="18" charset="0"/>
                <a:cs typeface="Times New Roman" panose="02020603050405020304" pitchFamily="18" charset="0"/>
              </a:rPr>
              <a:t> that processes server logs and visualizes insights through interactive dashboards.</a:t>
            </a:r>
          </a:p>
          <a:p>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Cybersecurity threat detection</a:t>
            </a:r>
          </a:p>
          <a:p>
            <a:r>
              <a:rPr lang="en-US" sz="2000" dirty="0">
                <a:latin typeface="Times New Roman" panose="02020603050405020304" pitchFamily="18" charset="0"/>
                <a:cs typeface="Times New Roman" panose="02020603050405020304" pitchFamily="18" charset="0"/>
              </a:rPr>
              <a:t>Website traffic monitoring</a:t>
            </a:r>
          </a:p>
          <a:p>
            <a:r>
              <a:rPr lang="en-US" sz="2000" dirty="0">
                <a:latin typeface="Times New Roman" panose="02020603050405020304" pitchFamily="18" charset="0"/>
                <a:cs typeface="Times New Roman" panose="02020603050405020304" pitchFamily="18" charset="0"/>
              </a:rPr>
              <a:t>Performance optimization</a:t>
            </a:r>
          </a:p>
          <a:p>
            <a:r>
              <a:rPr lang="en-US" sz="2000" dirty="0">
                <a:latin typeface="Times New Roman" panose="02020603050405020304" pitchFamily="18" charset="0"/>
                <a:cs typeface="Times New Roman" panose="02020603050405020304" pitchFamily="18" charset="0"/>
              </a:rPr>
              <a:t>User behavior analysis</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10" name="Picture 9">
            <a:extLst>
              <a:ext uri="{FF2B5EF4-FFF2-40B4-BE49-F238E27FC236}">
                <a16:creationId xmlns:a16="http://schemas.microsoft.com/office/drawing/2014/main" id="{8F935C67-5F0A-4CA6-A0F9-41A7D0BF740E}"/>
              </a:ext>
            </a:extLst>
          </p:cNvPr>
          <p:cNvPicPr>
            <a:picLocks noChangeAspect="1"/>
          </p:cNvPicPr>
          <p:nvPr/>
        </p:nvPicPr>
        <p:blipFill>
          <a:blip r:embed="rId3"/>
          <a:stretch>
            <a:fillRect/>
          </a:stretch>
        </p:blipFill>
        <p:spPr>
          <a:xfrm>
            <a:off x="7786754" y="4237758"/>
            <a:ext cx="3567046" cy="1936029"/>
          </a:xfrm>
          <a:prstGeom prst="rect">
            <a:avLst/>
          </a:prstGeom>
        </p:spPr>
      </p:pic>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007"/>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6" name="Picture 5">
            <a:extLst>
              <a:ext uri="{FF2B5EF4-FFF2-40B4-BE49-F238E27FC236}">
                <a16:creationId xmlns:a16="http://schemas.microsoft.com/office/drawing/2014/main" id="{B474A04B-8818-41B8-3FC7-5E517D2DADAE}"/>
              </a:ext>
            </a:extLst>
          </p:cNvPr>
          <p:cNvPicPr>
            <a:picLocks noChangeAspect="1"/>
          </p:cNvPicPr>
          <p:nvPr/>
        </p:nvPicPr>
        <p:blipFill>
          <a:blip r:embed="rId3"/>
          <a:stretch>
            <a:fillRect/>
          </a:stretch>
        </p:blipFill>
        <p:spPr>
          <a:xfrm>
            <a:off x="260278" y="1425016"/>
            <a:ext cx="11671443" cy="4931334"/>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457200" indent="-457200">
              <a:buAutoNum type="arabicPeriod"/>
            </a:pPr>
            <a:r>
              <a:rPr lang="en-US" sz="2000" dirty="0">
                <a:latin typeface="Times New Roman" panose="02020603050405020304" pitchFamily="18" charset="0"/>
                <a:cs typeface="Times New Roman" panose="02020603050405020304" pitchFamily="18" charset="0"/>
              </a:rPr>
              <a:t>To design and develop a scalable web server log analysis system using big data technologies.</a:t>
            </a:r>
          </a:p>
          <a:p>
            <a:pPr marL="457200" indent="-457200">
              <a:buAutoNum type="arabicPeriod"/>
            </a:pPr>
            <a:r>
              <a:rPr lang="en-US" sz="2000" dirty="0">
                <a:latin typeface="Times New Roman" panose="02020603050405020304" pitchFamily="18" charset="0"/>
                <a:cs typeface="Times New Roman" panose="02020603050405020304" pitchFamily="18" charset="0"/>
              </a:rPr>
              <a:t>To preprocess and convert raw log data into structured format for efficient analysis.</a:t>
            </a:r>
          </a:p>
          <a:p>
            <a:pPr marL="457200" indent="-457200">
              <a:buAutoNum type="arabicPeriod"/>
            </a:pPr>
            <a:r>
              <a:rPr lang="en-US" sz="2000" dirty="0">
                <a:latin typeface="Times New Roman" panose="02020603050405020304" pitchFamily="18" charset="0"/>
                <a:cs typeface="Times New Roman" panose="02020603050405020304" pitchFamily="18" charset="0"/>
              </a:rPr>
              <a:t>To analyze web traffic patterns, user behavior, and server performance.</a:t>
            </a:r>
          </a:p>
          <a:p>
            <a:pPr marL="457200" indent="-457200">
              <a:buAutoNum type="arabicPeriod"/>
            </a:pPr>
            <a:r>
              <a:rPr lang="en-US" sz="2000" dirty="0">
                <a:latin typeface="Times New Roman" panose="02020603050405020304" pitchFamily="18" charset="0"/>
                <a:cs typeface="Times New Roman" panose="02020603050405020304" pitchFamily="18" charset="0"/>
              </a:rPr>
              <a:t>To detect errors, anomalies, and suspicious activities from log data.</a:t>
            </a:r>
          </a:p>
          <a:p>
            <a:pPr marL="457200" indent="-457200">
              <a:buAutoNum type="arabicPeriod"/>
            </a:pPr>
            <a:r>
              <a:rPr lang="en-US" sz="2000" dirty="0">
                <a:latin typeface="Times New Roman" panose="02020603050405020304" pitchFamily="18" charset="0"/>
                <a:cs typeface="Times New Roman" panose="02020603050405020304" pitchFamily="18" charset="0"/>
              </a:rPr>
              <a:t>To visualize analysis results using graphical dashboards for easy interpretation.</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01-04-2026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11" name="Picture 10">
            <a:extLst>
              <a:ext uri="{FF2B5EF4-FFF2-40B4-BE49-F238E27FC236}">
                <a16:creationId xmlns:a16="http://schemas.microsoft.com/office/drawing/2014/main" id="{B91F4E4B-B3F6-4A62-9082-5629FA63ED86}"/>
              </a:ext>
            </a:extLst>
          </p:cNvPr>
          <p:cNvPicPr>
            <a:picLocks noChangeAspect="1"/>
          </p:cNvPicPr>
          <p:nvPr/>
        </p:nvPicPr>
        <p:blipFill>
          <a:blip r:embed="rId3"/>
          <a:stretch>
            <a:fillRect/>
          </a:stretch>
        </p:blipFill>
        <p:spPr>
          <a:xfrm>
            <a:off x="7994318" y="4642463"/>
            <a:ext cx="3359482" cy="1659797"/>
          </a:xfrm>
          <a:prstGeom prst="rect">
            <a:avLst/>
          </a:prstGeom>
        </p:spPr>
      </p:pic>
    </p:spTree>
    <p:extLst>
      <p:ext uri="{BB962C8B-B14F-4D97-AF65-F5344CB8AC3E}">
        <p14:creationId xmlns:p14="http://schemas.microsoft.com/office/powerpoint/2010/main" val="400840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0503-14A4-4288-A690-9D67C167130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Module-wise Implementations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00305E-4301-4E9F-B316-2364BB243336}"/>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Module 1</a:t>
            </a:r>
            <a:r>
              <a:rPr lang="en-IN" sz="2400" dirty="0">
                <a:latin typeface="Times New Roman" panose="02020603050405020304" pitchFamily="18" charset="0"/>
                <a:cs typeface="Times New Roman" panose="02020603050405020304" pitchFamily="18" charset="0"/>
              </a:rPr>
              <a:t>: Log Data Collection Collect web server log file</a:t>
            </a:r>
          </a:p>
          <a:p>
            <a:r>
              <a:rPr lang="en-IN" sz="2400" b="1" dirty="0">
                <a:latin typeface="Times New Roman" panose="02020603050405020304" pitchFamily="18" charset="0"/>
                <a:cs typeface="Times New Roman" panose="02020603050405020304" pitchFamily="18" charset="0"/>
              </a:rPr>
              <a:t>Module 2</a:t>
            </a:r>
            <a:r>
              <a:rPr lang="en-IN" sz="2400" dirty="0">
                <a:latin typeface="Times New Roman" panose="02020603050405020304" pitchFamily="18" charset="0"/>
                <a:cs typeface="Times New Roman" panose="02020603050405020304" pitchFamily="18" charset="0"/>
              </a:rPr>
              <a:t>: Data Pre-processing Clean and filter log data. Convert raw logs into structured format.</a:t>
            </a:r>
          </a:p>
          <a:p>
            <a:r>
              <a:rPr lang="en-IN" sz="2400" b="1" dirty="0">
                <a:latin typeface="Times New Roman" panose="02020603050405020304" pitchFamily="18" charset="0"/>
                <a:cs typeface="Times New Roman" panose="02020603050405020304" pitchFamily="18" charset="0"/>
              </a:rPr>
              <a:t>Module 3</a:t>
            </a:r>
            <a:r>
              <a:rPr lang="en-IN" sz="2400" dirty="0">
                <a:latin typeface="Times New Roman" panose="02020603050405020304" pitchFamily="18" charset="0"/>
                <a:cs typeface="Times New Roman" panose="02020603050405020304" pitchFamily="18" charset="0"/>
              </a:rPr>
              <a:t>: Data Processing (Apache Spark)Process large log data using Spark.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traffic, status codes, and user activity.</a:t>
            </a:r>
          </a:p>
          <a:p>
            <a:r>
              <a:rPr lang="en-IN" sz="2400" b="1" dirty="0">
                <a:latin typeface="Times New Roman" panose="02020603050405020304" pitchFamily="18" charset="0"/>
                <a:cs typeface="Times New Roman" panose="02020603050405020304" pitchFamily="18" charset="0"/>
              </a:rPr>
              <a:t>Module 4</a:t>
            </a:r>
            <a:r>
              <a:rPr lang="en-IN" sz="2400" dirty="0">
                <a:latin typeface="Times New Roman" panose="02020603050405020304" pitchFamily="18" charset="0"/>
                <a:cs typeface="Times New Roman" panose="02020603050405020304" pitchFamily="18" charset="0"/>
              </a:rPr>
              <a:t>: Visualization Dashboard Visualize results using charts and graphs. Display traffic trends and error analysis.</a:t>
            </a:r>
          </a:p>
          <a:p>
            <a:r>
              <a:rPr lang="en-IN" sz="2400" b="1" dirty="0">
                <a:latin typeface="Times New Roman" panose="02020603050405020304" pitchFamily="18" charset="0"/>
                <a:cs typeface="Times New Roman" panose="02020603050405020304" pitchFamily="18" charset="0"/>
              </a:rPr>
              <a:t>Module 5</a:t>
            </a:r>
            <a:r>
              <a:rPr lang="en-IN" sz="2400" dirty="0">
                <a:latin typeface="Times New Roman" panose="02020603050405020304" pitchFamily="18" charset="0"/>
                <a:cs typeface="Times New Roman" panose="02020603050405020304" pitchFamily="18" charset="0"/>
              </a:rPr>
              <a:t>: Anomaly Detection Detect unusual traffic and suspicious IP Activity. Identify error patterns and server issues.es (Apache/Nginx).Store log data in HDFS or local storage.</a:t>
            </a:r>
          </a:p>
        </p:txBody>
      </p:sp>
      <p:sp>
        <p:nvSpPr>
          <p:cNvPr id="4" name="Date Placeholder 3">
            <a:extLst>
              <a:ext uri="{FF2B5EF4-FFF2-40B4-BE49-F238E27FC236}">
                <a16:creationId xmlns:a16="http://schemas.microsoft.com/office/drawing/2014/main" id="{9632753C-8F84-474E-8C28-1293575739DF}"/>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BB319E5B-6E2E-4574-8F1C-BC8CB7A1B50D}"/>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524E97C8-BFF3-43A3-9258-C7E561587B3A}"/>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229152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524318495"/>
              </p:ext>
            </p:extLst>
          </p:nvPr>
        </p:nvGraphicFramePr>
        <p:xfrm>
          <a:off x="184935" y="1128008"/>
          <a:ext cx="11815281" cy="5087858"/>
        </p:xfrm>
        <a:graphic>
          <a:graphicData uri="http://schemas.openxmlformats.org/drawingml/2006/table">
            <a:tbl>
              <a:tblPr/>
              <a:tblGrid>
                <a:gridCol w="2917824">
                  <a:extLst>
                    <a:ext uri="{9D8B030D-6E8A-4147-A177-3AD203B41FA5}">
                      <a16:colId xmlns:a16="http://schemas.microsoft.com/office/drawing/2014/main" val="2914338365"/>
                    </a:ext>
                  </a:extLst>
                </a:gridCol>
                <a:gridCol w="2965819">
                  <a:extLst>
                    <a:ext uri="{9D8B030D-6E8A-4147-A177-3AD203B41FA5}">
                      <a16:colId xmlns:a16="http://schemas.microsoft.com/office/drawing/2014/main" val="84625793"/>
                    </a:ext>
                  </a:extLst>
                </a:gridCol>
                <a:gridCol w="2965819">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24394">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09041">
                <a:tc>
                  <a:txBody>
                    <a:bodyPr/>
                    <a:lstStyle/>
                    <a:p>
                      <a:r>
                        <a:rPr lang="en-US" sz="1800" dirty="0">
                          <a:latin typeface="Times New Roman" panose="02020603050405020304" pitchFamily="18" charset="0"/>
                          <a:cs typeface="Times New Roman" panose="02020603050405020304" pitchFamily="18" charset="0"/>
                        </a:rPr>
                        <a:t>Large-Scale Web Log Analysis Using Hadoop</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https://arxiv.org/abs/1709.03546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latency due to disk-based processing and lack of real-time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Can be extended using in-memory processing and real-time streaming frameworks.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09041">
                <a:tc>
                  <a:txBody>
                    <a:bodyPr/>
                    <a:lstStyle/>
                    <a:p>
                      <a:r>
                        <a:rPr lang="en-US" sz="1800">
                          <a:latin typeface="Times New Roman" panose="02020603050405020304" pitchFamily="18" charset="0"/>
                          <a:cs typeface="Times New Roman" panose="02020603050405020304" pitchFamily="18" charset="0"/>
                        </a:rPr>
                        <a:t>Apache Spark for Big Data Processing</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https://arxiv.org/abs/1802.00316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Requires high memory resources and complex configuration.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Optimization techniques and cloud-based deployment can improve performance.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890077">
                <a:tc>
                  <a:txBody>
                    <a:bodyPr/>
                    <a:lstStyle/>
                    <a:p>
                      <a:r>
                        <a:rPr lang="da-DK" sz="1800" dirty="0">
                          <a:latin typeface="Times New Roman" panose="02020603050405020304" pitchFamily="18" charset="0"/>
                          <a:cs typeface="Times New Roman" panose="02020603050405020304" pitchFamily="18" charset="0"/>
                        </a:rPr>
                        <a:t>Web Usage Mining from Server Logs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https://ieeexplore.ieee.org/document/7488251</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Limited to historical data analysis and lacks real-time insights.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Integration with real-time log streams for dynamic behavior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77602">
                <a:tc>
                  <a:txBody>
                    <a:bodyPr/>
                    <a:lstStyle/>
                    <a:p>
                      <a:r>
                        <a:rPr lang="en-US" sz="1800">
                          <a:latin typeface="Times New Roman" panose="02020603050405020304" pitchFamily="18" charset="0"/>
                          <a:cs typeface="Times New Roman" panose="02020603050405020304" pitchFamily="18" charset="0"/>
                        </a:rPr>
                        <a:t>Big Data Analytics for Log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https://www.sciencedirect.com/science/article/pii/S1877050917322094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Scalability issues when handling extremely high-velocity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Adoption of distributed streaming platforms for continuous data ingestion.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77703">
                <a:tc>
                  <a:txBody>
                    <a:bodyPr/>
                    <a:lstStyle/>
                    <a:p>
                      <a:r>
                        <a:rPr lang="en-US" sz="1800" dirty="0">
                          <a:latin typeface="Times New Roman" panose="02020603050405020304" pitchFamily="18" charset="0"/>
                          <a:cs typeface="Times New Roman" panose="02020603050405020304" pitchFamily="18" charset="0"/>
                        </a:rPr>
                        <a:t>Real-Time Log Analysis Using Distributed Systems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https://link.springer.com/article/10.1007/s00521-020-04762-8</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Complex system design and high computational cost.</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Simplified architectures and intelligent anomaly detection methods.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2107164505"/>
              </p:ext>
            </p:extLst>
          </p:nvPr>
        </p:nvGraphicFramePr>
        <p:xfrm>
          <a:off x="205483" y="877254"/>
          <a:ext cx="11763910" cy="5354114"/>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da-DK" sz="1800" dirty="0">
                          <a:latin typeface="Times New Roman" panose="02020603050405020304" pitchFamily="18" charset="0"/>
                          <a:cs typeface="Times New Roman" panose="02020603050405020304" pitchFamily="18" charset="0"/>
                        </a:rPr>
                        <a:t>Log Mining for Web Usage Analysis</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https://ieeexplore.ieee.org/document/611314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ability to handle large-scale datasets efficiently.</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Use of big data technologies like Spark and Hadoop for scalable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sz="1800" dirty="0">
                          <a:latin typeface="Times New Roman" panose="02020603050405020304" pitchFamily="18" charset="0"/>
                          <a:cs typeface="Times New Roman" panose="02020603050405020304" pitchFamily="18" charset="0"/>
                        </a:rPr>
                        <a:t>Big Data Processing Using MapReduce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https://research.google/pubs/pub62/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Slow processing due to disk-based batch processing model.</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Replacement with in-memory computing frameworks such as Apache Spark.</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sz="1800" dirty="0">
                          <a:latin typeface="Times New Roman" panose="02020603050405020304" pitchFamily="18" charset="0"/>
                          <a:cs typeface="Times New Roman" panose="02020603050405020304" pitchFamily="18" charset="0"/>
                        </a:rPr>
                        <a:t>Scalable Log Processing with Apache Spark</a:t>
                      </a:r>
                      <a:endParaRPr lang="da-DK"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https://spark.apache.org/research.html</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resource consumption in distributed clusters.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Development of optimized algorithms and lightweight processing pipelines.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sz="1800" dirty="0">
                          <a:latin typeface="Times New Roman" panose="02020603050405020304" pitchFamily="18" charset="0"/>
                          <a:cs typeface="Times New Roman" panose="02020603050405020304" pitchFamily="18" charset="0"/>
                        </a:rPr>
                        <a:t>Web Log Mining Using Data Mining Techniques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https://link.springer.com/chapter/10.1007/978-3-319-59888-8_7</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support for real-time analytics and anomaly detection.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Integration with machine learning algorithms for predictive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US" sz="1800" dirty="0">
                          <a:latin typeface="Times New Roman" panose="02020603050405020304" pitchFamily="18" charset="0"/>
                          <a:cs typeface="Times New Roman" panose="02020603050405020304" pitchFamily="18" charset="0"/>
                        </a:rPr>
                        <a:t>Distributed Log Analysis for Web Applications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https://dl.acm.org/doi/10.1145/3183713.3196902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Difficult system maintenance and complex distributed architecture.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Automated log monitoring systems with intelligent alert mechanisms.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473048" y="1185863"/>
            <a:ext cx="5736770" cy="5672135"/>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Tools and Technologies </a:t>
            </a:r>
            <a:endParaRPr lang="en-US" sz="20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Apache Spark for large-scale log data processing</a:t>
            </a:r>
          </a:p>
          <a:p>
            <a:r>
              <a:rPr lang="en-US" sz="1800" dirty="0">
                <a:latin typeface="Times New Roman" panose="02020603050405020304" pitchFamily="18" charset="0"/>
                <a:cs typeface="Times New Roman" panose="02020603050405020304" pitchFamily="18" charset="0"/>
              </a:rPr>
              <a:t>Python (</a:t>
            </a:r>
            <a:r>
              <a:rPr lang="en-US" sz="1800" dirty="0" err="1">
                <a:latin typeface="Times New Roman" panose="02020603050405020304" pitchFamily="18" charset="0"/>
                <a:cs typeface="Times New Roman" panose="02020603050405020304" pitchFamily="18" charset="0"/>
              </a:rPr>
              <a:t>PySpark</a:t>
            </a:r>
            <a:r>
              <a:rPr lang="en-US" sz="1800" dirty="0">
                <a:latin typeface="Times New Roman" panose="02020603050405020304" pitchFamily="18" charset="0"/>
                <a:cs typeface="Times New Roman" panose="02020603050405020304" pitchFamily="18" charset="0"/>
              </a:rPr>
              <a:t>) for data preprocessing and analysis</a:t>
            </a:r>
          </a:p>
          <a:p>
            <a:r>
              <a:rPr lang="en-US" sz="1800" dirty="0">
                <a:latin typeface="Times New Roman" panose="02020603050405020304" pitchFamily="18" charset="0"/>
                <a:cs typeface="Times New Roman" panose="02020603050405020304" pitchFamily="18" charset="0"/>
              </a:rPr>
              <a:t>React for interactive web dashboard</a:t>
            </a:r>
          </a:p>
          <a:p>
            <a:r>
              <a:rPr lang="en-US" sz="1800" dirty="0">
                <a:latin typeface="Times New Roman" panose="02020603050405020304" pitchFamily="18" charset="0"/>
                <a:cs typeface="Times New Roman" panose="02020603050405020304" pitchFamily="18" charset="0"/>
              </a:rPr>
              <a:t>Node.js for backend server</a:t>
            </a:r>
          </a:p>
          <a:p>
            <a:r>
              <a:rPr lang="en-US" sz="1800" dirty="0">
                <a:latin typeface="Times New Roman" panose="02020603050405020304" pitchFamily="18" charset="0"/>
                <a:cs typeface="Times New Roman" panose="02020603050405020304" pitchFamily="18" charset="0"/>
              </a:rPr>
              <a:t>Apache/Nginx web server log dataset</a:t>
            </a:r>
          </a:p>
          <a:p>
            <a:r>
              <a:rPr lang="en-US" sz="1800" dirty="0">
                <a:latin typeface="Times New Roman" panose="02020603050405020304" pitchFamily="18" charset="0"/>
                <a:cs typeface="Times New Roman" panose="02020603050405020304" pitchFamily="18" charset="0"/>
              </a:rPr>
              <a:t>Recharts for data visualization</a:t>
            </a:r>
          </a:p>
          <a:p>
            <a:pPr marL="0" indent="0">
              <a:buNone/>
            </a:pPr>
            <a:r>
              <a:rPr lang="en-US" sz="2000" b="1" dirty="0">
                <a:latin typeface="Times New Roman" panose="02020603050405020304" pitchFamily="18" charset="0"/>
                <a:cs typeface="Times New Roman" panose="02020603050405020304" pitchFamily="18" charset="0"/>
              </a:rPr>
              <a:t>Dataset</a:t>
            </a:r>
          </a:p>
          <a:p>
            <a:r>
              <a:rPr lang="en-US" sz="1800" dirty="0">
                <a:latin typeface="Times New Roman" panose="02020603050405020304" pitchFamily="18" charset="0"/>
                <a:cs typeface="Times New Roman" panose="02020603050405020304" pitchFamily="18" charset="0"/>
              </a:rPr>
              <a:t>The dataset consists of Apache/Nginx web server log files.</a:t>
            </a:r>
          </a:p>
          <a:p>
            <a:r>
              <a:rPr lang="en-US" sz="1800" dirty="0">
                <a:latin typeface="Times New Roman" panose="02020603050405020304" pitchFamily="18" charset="0"/>
                <a:cs typeface="Times New Roman" panose="02020603050405020304" pitchFamily="18" charset="0"/>
              </a:rPr>
              <a:t>The log files contain information about user requests and server responses.</a:t>
            </a:r>
          </a:p>
          <a:p>
            <a:r>
              <a:rPr lang="en-US" sz="1800" dirty="0">
                <a:latin typeface="Times New Roman" panose="02020603050405020304" pitchFamily="18" charset="0"/>
                <a:cs typeface="Times New Roman" panose="02020603050405020304" pitchFamily="18" charset="0"/>
              </a:rPr>
              <a:t>Example Log Entry:192.168.1.105 - - [01/Jan/2024:10:15:32 +0000] "GET /</a:t>
            </a:r>
            <a:r>
              <a:rPr lang="en-US" sz="1800" dirty="0" err="1">
                <a:latin typeface="Times New Roman" panose="02020603050405020304" pitchFamily="18" charset="0"/>
                <a:cs typeface="Times New Roman" panose="02020603050405020304" pitchFamily="18" charset="0"/>
              </a:rPr>
              <a:t>api</a:t>
            </a:r>
            <a:r>
              <a:rPr lang="en-US" sz="1800" dirty="0">
                <a:latin typeface="Times New Roman" panose="02020603050405020304" pitchFamily="18" charset="0"/>
                <a:cs typeface="Times New Roman" panose="02020603050405020304" pitchFamily="18" charset="0"/>
              </a:rPr>
              <a:t>/users HTTP/1.1" 200 1542</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3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366499" y="1423443"/>
            <a:ext cx="5736770" cy="5452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IP Address</a:t>
            </a:r>
          </a:p>
          <a:p>
            <a:r>
              <a:rPr lang="en-US" sz="2000" dirty="0">
                <a:latin typeface="Times New Roman" panose="02020603050405020304" pitchFamily="18" charset="0"/>
                <a:cs typeface="Times New Roman" panose="02020603050405020304" pitchFamily="18" charset="0"/>
              </a:rPr>
              <a:t>Timestamp</a:t>
            </a:r>
          </a:p>
          <a:p>
            <a:r>
              <a:rPr lang="en-US" sz="2000" dirty="0">
                <a:latin typeface="Times New Roman" panose="02020603050405020304" pitchFamily="18" charset="0"/>
                <a:cs typeface="Times New Roman" panose="02020603050405020304" pitchFamily="18" charset="0"/>
              </a:rPr>
              <a:t>HTTP Request</a:t>
            </a:r>
          </a:p>
          <a:p>
            <a:r>
              <a:rPr lang="en-US" sz="2000" dirty="0">
                <a:latin typeface="Times New Roman" panose="02020603050405020304" pitchFamily="18" charset="0"/>
                <a:cs typeface="Times New Roman" panose="02020603050405020304" pitchFamily="18" charset="0"/>
              </a:rPr>
              <a:t>Status Code</a:t>
            </a:r>
          </a:p>
          <a:p>
            <a:r>
              <a:rPr lang="en-US" sz="2000" dirty="0">
                <a:latin typeface="Times New Roman" panose="02020603050405020304" pitchFamily="18" charset="0"/>
                <a:cs typeface="Times New Roman" panose="02020603050405020304" pitchFamily="18" charset="0"/>
              </a:rPr>
              <a:t>Response Size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These log files are processed using Apache Spark to generate analytics such as traffic analysis, error detection, and performance monitoring.</a:t>
            </a:r>
          </a:p>
        </p:txBody>
      </p:sp>
    </p:spTree>
    <p:extLst>
      <p:ext uri="{BB962C8B-B14F-4D97-AF65-F5344CB8AC3E}">
        <p14:creationId xmlns:p14="http://schemas.microsoft.com/office/powerpoint/2010/main" val="335004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981F-66E6-47C7-8059-73788F75978A}"/>
              </a:ext>
            </a:extLst>
          </p:cNvPr>
          <p:cNvSpPr>
            <a:spLocks noGrp="1"/>
          </p:cNvSpPr>
          <p:nvPr>
            <p:ph type="title"/>
          </p:nvPr>
        </p:nvSpPr>
        <p:spPr>
          <a:xfrm>
            <a:off x="2271712" y="365125"/>
            <a:ext cx="7200901" cy="1095375"/>
          </a:xfrm>
        </p:spPr>
        <p:txBody>
          <a:bodyPr>
            <a:normAutofit/>
          </a:bodyPr>
          <a:lstStyle/>
          <a:p>
            <a:r>
              <a:rPr lang="en-US" sz="4000" b="1" dirty="0">
                <a:latin typeface="Times New Roman" panose="02020603050405020304" pitchFamily="18" charset="0"/>
                <a:cs typeface="Times New Roman" panose="02020603050405020304" pitchFamily="18" charset="0"/>
              </a:rPr>
              <a:t>Comparison and Discussion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92C27E-6971-4508-A662-6C123C2C648A}"/>
              </a:ext>
            </a:extLst>
          </p:cNvPr>
          <p:cNvSpPr>
            <a:spLocks noGrp="1"/>
          </p:cNvSpPr>
          <p:nvPr>
            <p:ph idx="1"/>
          </p:nvPr>
        </p:nvSpPr>
        <p:spPr>
          <a:xfrm>
            <a:off x="838200" y="1460500"/>
            <a:ext cx="10515600" cy="4351338"/>
          </a:xfrm>
        </p:spPr>
        <p:txBody>
          <a:bodyPr>
            <a:normAutofit/>
          </a:bodyPr>
          <a:lstStyle/>
          <a:p>
            <a:r>
              <a:rPr lang="en-IN" sz="1600" dirty="0">
                <a:latin typeface="Times New Roman" panose="02020603050405020304" pitchFamily="18" charset="0"/>
                <a:cs typeface="Times New Roman" panose="02020603050405020304" pitchFamily="18" charset="0"/>
              </a:rPr>
              <a:t>Hadoop vs Spark processing time                                                    </a:t>
            </a:r>
          </a:p>
          <a:p>
            <a:r>
              <a:rPr lang="en-IN" sz="1600" dirty="0">
                <a:latin typeface="Times New Roman" panose="02020603050405020304" pitchFamily="18" charset="0"/>
                <a:cs typeface="Times New Roman" panose="02020603050405020304" pitchFamily="18" charset="0"/>
              </a:rPr>
              <a:t>Traditional log analysis vs Spark log analysis</a:t>
            </a:r>
          </a:p>
          <a:p>
            <a:r>
              <a:rPr lang="en-IN" sz="1600" dirty="0">
                <a:latin typeface="Times New Roman" panose="02020603050405020304" pitchFamily="18" charset="0"/>
                <a:cs typeface="Times New Roman" panose="02020603050405020304" pitchFamily="18" charset="0"/>
              </a:rPr>
              <a:t> Processing time vs Data size</a:t>
            </a:r>
          </a:p>
          <a:p>
            <a:r>
              <a:rPr lang="en-IN" sz="1600" dirty="0">
                <a:latin typeface="Times New Roman" panose="02020603050405020304" pitchFamily="18" charset="0"/>
                <a:cs typeface="Times New Roman" panose="02020603050405020304" pitchFamily="18" charset="0"/>
              </a:rPr>
              <a:t> Error detection comparison</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BB58190-3B76-4F95-A133-F3D9C725CDBD}"/>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6EB3560F-9F93-44D1-9B18-5A418116947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5DFC4FC-DA44-465C-9B0B-0B764E359725}"/>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2" name="TextBox 11">
            <a:extLst>
              <a:ext uri="{FF2B5EF4-FFF2-40B4-BE49-F238E27FC236}">
                <a16:creationId xmlns:a16="http://schemas.microsoft.com/office/drawing/2014/main" id="{D4B02B3D-A175-447C-AE95-B104CD6681D0}"/>
              </a:ext>
            </a:extLst>
          </p:cNvPr>
          <p:cNvSpPr txBox="1"/>
          <p:nvPr/>
        </p:nvSpPr>
        <p:spPr>
          <a:xfrm>
            <a:off x="838200" y="4279841"/>
            <a:ext cx="9320213" cy="1754326"/>
          </a:xfrm>
          <a:prstGeom prst="rect">
            <a:avLst/>
          </a:prstGeom>
          <a:noFill/>
        </p:spPr>
        <p:txBody>
          <a:bodyPr wrap="square">
            <a:spAutoFit/>
          </a:bodyPr>
          <a:lstStyle/>
          <a:p>
            <a:r>
              <a:rPr lang="en-IN" b="1" dirty="0"/>
              <a:t>Content:</a:t>
            </a:r>
            <a:endParaRPr lang="en-IN" dirty="0"/>
          </a:p>
          <a:p>
            <a:pPr>
              <a:buFont typeface="Arial" panose="020B0604020202020204" pitchFamily="34" charset="0"/>
              <a:buChar char="•"/>
            </a:pPr>
            <a:r>
              <a:rPr lang="en-IN" dirty="0"/>
              <a:t>Traditional log analysis tools process data slowly due to disk-based processing. </a:t>
            </a:r>
          </a:p>
          <a:p>
            <a:pPr>
              <a:buFont typeface="Arial" panose="020B0604020202020204" pitchFamily="34" charset="0"/>
              <a:buChar char="•"/>
            </a:pPr>
            <a:r>
              <a:rPr lang="en-IN" dirty="0"/>
              <a:t>Hadoop MapReduce processes large data but has high latency. </a:t>
            </a:r>
          </a:p>
          <a:p>
            <a:pPr>
              <a:buFont typeface="Arial" panose="020B0604020202020204" pitchFamily="34" charset="0"/>
              <a:buChar char="•"/>
            </a:pPr>
            <a:r>
              <a:rPr lang="en-IN" dirty="0"/>
              <a:t>Apache Spark uses in-memory computation, resulting in faster processing. </a:t>
            </a:r>
          </a:p>
          <a:p>
            <a:pPr>
              <a:buFont typeface="Arial" panose="020B0604020202020204" pitchFamily="34" charset="0"/>
              <a:buChar char="•"/>
            </a:pPr>
            <a:r>
              <a:rPr lang="en-IN" dirty="0"/>
              <a:t>Spark significantly reduces processing time and improves performance. </a:t>
            </a:r>
          </a:p>
          <a:p>
            <a:pPr>
              <a:buFont typeface="Arial" panose="020B0604020202020204" pitchFamily="34" charset="0"/>
              <a:buChar char="•"/>
            </a:pPr>
            <a:r>
              <a:rPr lang="en-IN" dirty="0"/>
              <a:t>Graphical results show Spark performs better for large-scale log analysis.</a:t>
            </a:r>
          </a:p>
        </p:txBody>
      </p:sp>
      <p:graphicFrame>
        <p:nvGraphicFramePr>
          <p:cNvPr id="13" name="Table 13">
            <a:extLst>
              <a:ext uri="{FF2B5EF4-FFF2-40B4-BE49-F238E27FC236}">
                <a16:creationId xmlns:a16="http://schemas.microsoft.com/office/drawing/2014/main" id="{94FA7044-19D7-48E9-92CD-728FA05900EC}"/>
              </a:ext>
            </a:extLst>
          </p:cNvPr>
          <p:cNvGraphicFramePr>
            <a:graphicFrameLocks noGrp="1"/>
          </p:cNvGraphicFramePr>
          <p:nvPr>
            <p:extLst>
              <p:ext uri="{D42A27DB-BD31-4B8C-83A1-F6EECF244321}">
                <p14:modId xmlns:p14="http://schemas.microsoft.com/office/powerpoint/2010/main" val="1122930196"/>
              </p:ext>
            </p:extLst>
          </p:nvPr>
        </p:nvGraphicFramePr>
        <p:xfrm>
          <a:off x="1171575" y="2843213"/>
          <a:ext cx="9615488" cy="1463040"/>
        </p:xfrm>
        <a:graphic>
          <a:graphicData uri="http://schemas.openxmlformats.org/drawingml/2006/table">
            <a:tbl>
              <a:tblPr firstRow="1" bandRow="1">
                <a:tableStyleId>{5C22544A-7EE6-4342-B048-85BDC9FD1C3A}</a:tableStyleId>
              </a:tblPr>
              <a:tblGrid>
                <a:gridCol w="2403872">
                  <a:extLst>
                    <a:ext uri="{9D8B030D-6E8A-4147-A177-3AD203B41FA5}">
                      <a16:colId xmlns:a16="http://schemas.microsoft.com/office/drawing/2014/main" val="1187878092"/>
                    </a:ext>
                  </a:extLst>
                </a:gridCol>
                <a:gridCol w="2403872">
                  <a:extLst>
                    <a:ext uri="{9D8B030D-6E8A-4147-A177-3AD203B41FA5}">
                      <a16:colId xmlns:a16="http://schemas.microsoft.com/office/drawing/2014/main" val="107067563"/>
                    </a:ext>
                  </a:extLst>
                </a:gridCol>
                <a:gridCol w="2403872">
                  <a:extLst>
                    <a:ext uri="{9D8B030D-6E8A-4147-A177-3AD203B41FA5}">
                      <a16:colId xmlns:a16="http://schemas.microsoft.com/office/drawing/2014/main" val="3412893543"/>
                    </a:ext>
                  </a:extLst>
                </a:gridCol>
                <a:gridCol w="2403872">
                  <a:extLst>
                    <a:ext uri="{9D8B030D-6E8A-4147-A177-3AD203B41FA5}">
                      <a16:colId xmlns:a16="http://schemas.microsoft.com/office/drawing/2014/main" val="2986493483"/>
                    </a:ext>
                  </a:extLst>
                </a:gridCol>
              </a:tblGrid>
              <a:tr h="278611">
                <a:tc>
                  <a:txBody>
                    <a:bodyPr/>
                    <a:lstStyle/>
                    <a:p>
                      <a:r>
                        <a:rPr lang="en-IN"/>
                        <a:t>Method</a:t>
                      </a:r>
                    </a:p>
                  </a:txBody>
                  <a:tcPr anchor="ctr"/>
                </a:tc>
                <a:tc>
                  <a:txBody>
                    <a:bodyPr/>
                    <a:lstStyle/>
                    <a:p>
                      <a:r>
                        <a:rPr lang="en-IN"/>
                        <a:t>Processing Speed</a:t>
                      </a:r>
                    </a:p>
                  </a:txBody>
                  <a:tcPr anchor="ctr"/>
                </a:tc>
                <a:tc>
                  <a:txBody>
                    <a:bodyPr/>
                    <a:lstStyle/>
                    <a:p>
                      <a:r>
                        <a:rPr lang="en-IN"/>
                        <a:t>Scalability</a:t>
                      </a:r>
                    </a:p>
                  </a:txBody>
                  <a:tcPr anchor="ctr"/>
                </a:tc>
                <a:tc>
                  <a:txBody>
                    <a:bodyPr/>
                    <a:lstStyle/>
                    <a:p>
                      <a:r>
                        <a:rPr lang="en-IN"/>
                        <a:t>Real-time Analysis</a:t>
                      </a:r>
                    </a:p>
                  </a:txBody>
                  <a:tcPr anchor="ctr"/>
                </a:tc>
                <a:extLst>
                  <a:ext uri="{0D108BD9-81ED-4DB2-BD59-A6C34878D82A}">
                    <a16:rowId xmlns:a16="http://schemas.microsoft.com/office/drawing/2014/main" val="4023425679"/>
                  </a:ext>
                </a:extLst>
              </a:tr>
              <a:tr h="278611">
                <a:tc>
                  <a:txBody>
                    <a:bodyPr/>
                    <a:lstStyle/>
                    <a:p>
                      <a:r>
                        <a:rPr lang="en-IN"/>
                        <a:t>Traditional Tools</a:t>
                      </a:r>
                    </a:p>
                  </a:txBody>
                  <a:tcPr anchor="ctr"/>
                </a:tc>
                <a:tc>
                  <a:txBody>
                    <a:bodyPr/>
                    <a:lstStyle/>
                    <a:p>
                      <a:r>
                        <a:rPr lang="en-IN"/>
                        <a:t>Slow</a:t>
                      </a:r>
                    </a:p>
                  </a:txBody>
                  <a:tcPr anchor="ctr"/>
                </a:tc>
                <a:tc>
                  <a:txBody>
                    <a:bodyPr/>
                    <a:lstStyle/>
                    <a:p>
                      <a:r>
                        <a:rPr lang="en-IN"/>
                        <a:t>Low</a:t>
                      </a:r>
                    </a:p>
                  </a:txBody>
                  <a:tcPr anchor="ctr"/>
                </a:tc>
                <a:tc>
                  <a:txBody>
                    <a:bodyPr/>
                    <a:lstStyle/>
                    <a:p>
                      <a:r>
                        <a:rPr lang="en-IN"/>
                        <a:t>No</a:t>
                      </a:r>
                    </a:p>
                  </a:txBody>
                  <a:tcPr anchor="ctr"/>
                </a:tc>
                <a:extLst>
                  <a:ext uri="{0D108BD9-81ED-4DB2-BD59-A6C34878D82A}">
                    <a16:rowId xmlns:a16="http://schemas.microsoft.com/office/drawing/2014/main" val="1814653297"/>
                  </a:ext>
                </a:extLst>
              </a:tr>
              <a:tr h="278611">
                <a:tc>
                  <a:txBody>
                    <a:bodyPr/>
                    <a:lstStyle/>
                    <a:p>
                      <a:r>
                        <a:rPr lang="en-IN"/>
                        <a:t>Hadoop</a:t>
                      </a:r>
                    </a:p>
                  </a:txBody>
                  <a:tcPr anchor="ctr"/>
                </a:tc>
                <a:tc>
                  <a:txBody>
                    <a:bodyPr/>
                    <a:lstStyle/>
                    <a:p>
                      <a:r>
                        <a:rPr lang="en-IN"/>
                        <a:t>Medium</a:t>
                      </a:r>
                    </a:p>
                  </a:txBody>
                  <a:tcPr anchor="ctr"/>
                </a:tc>
                <a:tc>
                  <a:txBody>
                    <a:bodyPr/>
                    <a:lstStyle/>
                    <a:p>
                      <a:r>
                        <a:rPr lang="en-IN"/>
                        <a:t>High</a:t>
                      </a:r>
                    </a:p>
                  </a:txBody>
                  <a:tcPr anchor="ctr"/>
                </a:tc>
                <a:tc>
                  <a:txBody>
                    <a:bodyPr/>
                    <a:lstStyle/>
                    <a:p>
                      <a:r>
                        <a:rPr lang="en-IN"/>
                        <a:t>No</a:t>
                      </a:r>
                    </a:p>
                  </a:txBody>
                  <a:tcPr anchor="ctr"/>
                </a:tc>
                <a:extLst>
                  <a:ext uri="{0D108BD9-81ED-4DB2-BD59-A6C34878D82A}">
                    <a16:rowId xmlns:a16="http://schemas.microsoft.com/office/drawing/2014/main" val="2149023382"/>
                  </a:ext>
                </a:extLst>
              </a:tr>
              <a:tr h="278611">
                <a:tc>
                  <a:txBody>
                    <a:bodyPr/>
                    <a:lstStyle/>
                    <a:p>
                      <a:r>
                        <a:rPr lang="en-IN"/>
                        <a:t>Apache Spark</a:t>
                      </a:r>
                    </a:p>
                  </a:txBody>
                  <a:tcPr anchor="ctr"/>
                </a:tc>
                <a:tc>
                  <a:txBody>
                    <a:bodyPr/>
                    <a:lstStyle/>
                    <a:p>
                      <a:r>
                        <a:rPr lang="en-IN"/>
                        <a:t>Fast</a:t>
                      </a:r>
                    </a:p>
                  </a:txBody>
                  <a:tcPr anchor="ctr"/>
                </a:tc>
                <a:tc>
                  <a:txBody>
                    <a:bodyPr/>
                    <a:lstStyle/>
                    <a:p>
                      <a:r>
                        <a:rPr lang="en-IN"/>
                        <a:t>High</a:t>
                      </a:r>
                    </a:p>
                  </a:txBody>
                  <a:tcPr anchor="ctr"/>
                </a:tc>
                <a:tc>
                  <a:txBody>
                    <a:bodyPr/>
                    <a:lstStyle/>
                    <a:p>
                      <a:r>
                        <a:rPr lang="en-IN" dirty="0"/>
                        <a:t>Yes</a:t>
                      </a:r>
                    </a:p>
                  </a:txBody>
                  <a:tcPr anchor="ctr"/>
                </a:tc>
                <a:extLst>
                  <a:ext uri="{0D108BD9-81ED-4DB2-BD59-A6C34878D82A}">
                    <a16:rowId xmlns:a16="http://schemas.microsoft.com/office/drawing/2014/main" val="292285943"/>
                  </a:ext>
                </a:extLst>
              </a:tr>
            </a:tbl>
          </a:graphicData>
        </a:graphic>
      </p:graphicFrame>
    </p:spTree>
    <p:extLst>
      <p:ext uri="{BB962C8B-B14F-4D97-AF65-F5344CB8AC3E}">
        <p14:creationId xmlns:p14="http://schemas.microsoft.com/office/powerpoint/2010/main" val="2598071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D42989-49F4-4FB5-A024-34BAE04F1A0D}"/>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F95A3053-7A8E-4139-8976-14C89E1FC2D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FE8DBC2E-C673-4C4D-A1C8-29A6BAB884E0}"/>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2" name="Content Placeholder 11">
            <a:extLst>
              <a:ext uri="{FF2B5EF4-FFF2-40B4-BE49-F238E27FC236}">
                <a16:creationId xmlns:a16="http://schemas.microsoft.com/office/drawing/2014/main" id="{819A6FD0-E5BF-4592-903E-0702F144CBBE}"/>
              </a:ext>
            </a:extLst>
          </p:cNvPr>
          <p:cNvPicPr>
            <a:picLocks noGrp="1" noChangeAspect="1"/>
          </p:cNvPicPr>
          <p:nvPr>
            <p:ph idx="1"/>
          </p:nvPr>
        </p:nvPicPr>
        <p:blipFill>
          <a:blip r:embed="rId2"/>
          <a:stretch>
            <a:fillRect/>
          </a:stretch>
        </p:blipFill>
        <p:spPr>
          <a:xfrm>
            <a:off x="1047750" y="1157010"/>
            <a:ext cx="9754961" cy="3972479"/>
          </a:xfrm>
        </p:spPr>
      </p:pic>
    </p:spTree>
    <p:extLst>
      <p:ext uri="{BB962C8B-B14F-4D97-AF65-F5344CB8AC3E}">
        <p14:creationId xmlns:p14="http://schemas.microsoft.com/office/powerpoint/2010/main" val="2453147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B35D4A-3AD7-4A05-93DE-6AFB339F7647}"/>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2B253B25-3973-4CA9-BB92-350202F7692C}"/>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22B443C-3C5D-4E47-8624-86547F071C7A}"/>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3" name="Content Placeholder 12">
            <a:extLst>
              <a:ext uri="{FF2B5EF4-FFF2-40B4-BE49-F238E27FC236}">
                <a16:creationId xmlns:a16="http://schemas.microsoft.com/office/drawing/2014/main" id="{122F557B-05BD-45DD-8B07-27E653E6B6EE}"/>
              </a:ext>
            </a:extLst>
          </p:cNvPr>
          <p:cNvPicPr>
            <a:picLocks noGrp="1" noChangeAspect="1"/>
          </p:cNvPicPr>
          <p:nvPr>
            <p:ph idx="1"/>
          </p:nvPr>
        </p:nvPicPr>
        <p:blipFill>
          <a:blip r:embed="rId2"/>
          <a:stretch>
            <a:fillRect/>
          </a:stretch>
        </p:blipFill>
        <p:spPr>
          <a:xfrm>
            <a:off x="2914650" y="457200"/>
            <a:ext cx="5872163" cy="6000751"/>
          </a:xfrm>
        </p:spPr>
      </p:pic>
    </p:spTree>
    <p:extLst>
      <p:ext uri="{BB962C8B-B14F-4D97-AF65-F5344CB8AC3E}">
        <p14:creationId xmlns:p14="http://schemas.microsoft.com/office/powerpoint/2010/main" val="3917848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A21D9-F89A-4B4B-A1C0-C47278EA8A2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44B7C0-A265-43E7-BCD9-E2D2A702C58F}"/>
              </a:ext>
            </a:extLst>
          </p:cNvPr>
          <p:cNvSpPr>
            <a:spLocks noGrp="1"/>
          </p:cNvSpPr>
          <p:nvPr>
            <p:ph idx="1"/>
          </p:nvPr>
        </p:nvSpPr>
        <p:spPr/>
        <p:txBody>
          <a:bodyPr>
            <a:normAutofit/>
          </a:bodyPr>
          <a:lstStyle/>
          <a:p>
            <a:r>
              <a:rPr lang="en-IN" sz="1800" dirty="0">
                <a:latin typeface="Times New Roman" panose="02020603050405020304" pitchFamily="18" charset="0"/>
                <a:cs typeface="Times New Roman" panose="02020603050405020304" pitchFamily="18" charset="0"/>
              </a:rPr>
              <a:t>Real-time log monitoring and performance metrics generated.</a:t>
            </a:r>
          </a:p>
          <a:p>
            <a:r>
              <a:rPr lang="en-IN" sz="1800" dirty="0">
                <a:latin typeface="Times New Roman" panose="02020603050405020304" pitchFamily="18" charset="0"/>
                <a:cs typeface="Times New Roman" panose="02020603050405020304" pitchFamily="18" charset="0"/>
              </a:rPr>
              <a:t>Traffic analysis identified top IPs, URLs, and data usage.</a:t>
            </a:r>
          </a:p>
          <a:p>
            <a:r>
              <a:rPr lang="en-IN" sz="1800" dirty="0">
                <a:latin typeface="Times New Roman" panose="02020603050405020304" pitchFamily="18" charset="0"/>
                <a:cs typeface="Times New Roman" panose="02020603050405020304" pitchFamily="18" charset="0"/>
              </a:rPr>
              <a:t>Error analysis detected server and client errors.</a:t>
            </a:r>
          </a:p>
          <a:p>
            <a:r>
              <a:rPr lang="en-IN" sz="1800" dirty="0">
                <a:latin typeface="Times New Roman" panose="02020603050405020304" pitchFamily="18" charset="0"/>
                <a:cs typeface="Times New Roman" panose="02020603050405020304" pitchFamily="18" charset="0"/>
              </a:rPr>
              <a:t>Upload detection monitored file uploads and suspicious activity.</a:t>
            </a:r>
          </a:p>
          <a:p>
            <a:r>
              <a:rPr lang="en-IN" sz="1800" dirty="0">
                <a:latin typeface="Times New Roman" panose="02020603050405020304" pitchFamily="18" charset="0"/>
                <a:cs typeface="Times New Roman" panose="02020603050405020304" pitchFamily="18" charset="0"/>
              </a:rPr>
              <a:t>Results visualized using interactive dashboard.</a:t>
            </a:r>
          </a:p>
        </p:txBody>
      </p:sp>
      <p:sp>
        <p:nvSpPr>
          <p:cNvPr id="4" name="Date Placeholder 3">
            <a:extLst>
              <a:ext uri="{FF2B5EF4-FFF2-40B4-BE49-F238E27FC236}">
                <a16:creationId xmlns:a16="http://schemas.microsoft.com/office/drawing/2014/main" id="{DB7C26B7-6CC4-4156-BE41-DA12D0995E3B}"/>
              </a:ext>
            </a:extLst>
          </p:cNvPr>
          <p:cNvSpPr>
            <a:spLocks noGrp="1"/>
          </p:cNvSpPr>
          <p:nvPr>
            <p:ph type="dt" sz="half" idx="10"/>
          </p:nvPr>
        </p:nvSpPr>
        <p:spPr/>
        <p:txBody>
          <a:bodyPr/>
          <a:lstStyle/>
          <a:p>
            <a:fld id="{C7A4DE8B-8D6B-8C46-B882-6A2CD2BC96F0}" type="datetime1">
              <a:rPr lang="en-IN" smtClean="0"/>
              <a:t>01-04-2026</a:t>
            </a:fld>
            <a:endParaRPr lang="en-US"/>
          </a:p>
        </p:txBody>
      </p:sp>
      <p:sp>
        <p:nvSpPr>
          <p:cNvPr id="5" name="Footer Placeholder 4">
            <a:extLst>
              <a:ext uri="{FF2B5EF4-FFF2-40B4-BE49-F238E27FC236}">
                <a16:creationId xmlns:a16="http://schemas.microsoft.com/office/drawing/2014/main" id="{ED012446-0208-49A5-B980-002359136443}"/>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C920048-4D3F-4250-B49A-623F65712890}"/>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2" name="Picture 11">
            <a:extLst>
              <a:ext uri="{FF2B5EF4-FFF2-40B4-BE49-F238E27FC236}">
                <a16:creationId xmlns:a16="http://schemas.microsoft.com/office/drawing/2014/main" id="{B37C224C-EA61-43A4-AA0B-8AECA71FC422}"/>
              </a:ext>
            </a:extLst>
          </p:cNvPr>
          <p:cNvPicPr>
            <a:picLocks noChangeAspect="1"/>
          </p:cNvPicPr>
          <p:nvPr/>
        </p:nvPicPr>
        <p:blipFill>
          <a:blip r:embed="rId2"/>
          <a:stretch>
            <a:fillRect/>
          </a:stretch>
        </p:blipFill>
        <p:spPr>
          <a:xfrm>
            <a:off x="8010591" y="203554"/>
            <a:ext cx="3567046" cy="1936029"/>
          </a:xfrm>
          <a:prstGeom prst="rect">
            <a:avLst/>
          </a:prstGeom>
        </p:spPr>
      </p:pic>
      <p:pic>
        <p:nvPicPr>
          <p:cNvPr id="14" name="Picture 13">
            <a:extLst>
              <a:ext uri="{FF2B5EF4-FFF2-40B4-BE49-F238E27FC236}">
                <a16:creationId xmlns:a16="http://schemas.microsoft.com/office/drawing/2014/main" id="{8CCB589A-E2F7-486F-8CEF-CE7CA072EED5}"/>
              </a:ext>
            </a:extLst>
          </p:cNvPr>
          <p:cNvPicPr>
            <a:picLocks noChangeAspect="1"/>
          </p:cNvPicPr>
          <p:nvPr/>
        </p:nvPicPr>
        <p:blipFill>
          <a:blip r:embed="rId3"/>
          <a:stretch>
            <a:fillRect/>
          </a:stretch>
        </p:blipFill>
        <p:spPr>
          <a:xfrm>
            <a:off x="8010591" y="2374539"/>
            <a:ext cx="3709856" cy="1936029"/>
          </a:xfrm>
          <a:prstGeom prst="rect">
            <a:avLst/>
          </a:prstGeom>
        </p:spPr>
      </p:pic>
      <p:pic>
        <p:nvPicPr>
          <p:cNvPr id="16" name="Picture 15">
            <a:extLst>
              <a:ext uri="{FF2B5EF4-FFF2-40B4-BE49-F238E27FC236}">
                <a16:creationId xmlns:a16="http://schemas.microsoft.com/office/drawing/2014/main" id="{E4F93033-8F86-485C-B4CA-CCBFEAC5D719}"/>
              </a:ext>
            </a:extLst>
          </p:cNvPr>
          <p:cNvPicPr>
            <a:picLocks noChangeAspect="1"/>
          </p:cNvPicPr>
          <p:nvPr/>
        </p:nvPicPr>
        <p:blipFill>
          <a:blip r:embed="rId4"/>
          <a:stretch>
            <a:fillRect/>
          </a:stretch>
        </p:blipFill>
        <p:spPr>
          <a:xfrm>
            <a:off x="471554" y="4001293"/>
            <a:ext cx="3003744" cy="1719557"/>
          </a:xfrm>
          <a:prstGeom prst="rect">
            <a:avLst/>
          </a:prstGeom>
        </p:spPr>
      </p:pic>
      <p:pic>
        <p:nvPicPr>
          <p:cNvPr id="18" name="Picture 17">
            <a:extLst>
              <a:ext uri="{FF2B5EF4-FFF2-40B4-BE49-F238E27FC236}">
                <a16:creationId xmlns:a16="http://schemas.microsoft.com/office/drawing/2014/main" id="{1B85FCBA-F33F-4662-A0EC-77F6A80BB8D3}"/>
              </a:ext>
            </a:extLst>
          </p:cNvPr>
          <p:cNvPicPr>
            <a:picLocks noChangeAspect="1"/>
          </p:cNvPicPr>
          <p:nvPr/>
        </p:nvPicPr>
        <p:blipFill>
          <a:blip r:embed="rId5"/>
          <a:stretch>
            <a:fillRect/>
          </a:stretch>
        </p:blipFill>
        <p:spPr>
          <a:xfrm>
            <a:off x="3898568" y="4077218"/>
            <a:ext cx="3359482" cy="1659797"/>
          </a:xfrm>
          <a:prstGeom prst="rect">
            <a:avLst/>
          </a:prstGeom>
        </p:spPr>
      </p:pic>
      <p:pic>
        <p:nvPicPr>
          <p:cNvPr id="20" name="Picture 19">
            <a:extLst>
              <a:ext uri="{FF2B5EF4-FFF2-40B4-BE49-F238E27FC236}">
                <a16:creationId xmlns:a16="http://schemas.microsoft.com/office/drawing/2014/main" id="{1BE0C24F-AA81-4BA8-88F7-06E60C83508F}"/>
              </a:ext>
            </a:extLst>
          </p:cNvPr>
          <p:cNvPicPr>
            <a:picLocks noChangeAspect="1"/>
          </p:cNvPicPr>
          <p:nvPr/>
        </p:nvPicPr>
        <p:blipFill>
          <a:blip r:embed="rId6"/>
          <a:stretch>
            <a:fillRect/>
          </a:stretch>
        </p:blipFill>
        <p:spPr>
          <a:xfrm>
            <a:off x="8153400" y="4562200"/>
            <a:ext cx="3200400" cy="1629051"/>
          </a:xfrm>
          <a:prstGeom prst="rect">
            <a:avLst/>
          </a:prstGeom>
        </p:spPr>
      </p:pic>
    </p:spTree>
    <p:extLst>
      <p:ext uri="{BB962C8B-B14F-4D97-AF65-F5344CB8AC3E}">
        <p14:creationId xmlns:p14="http://schemas.microsoft.com/office/powerpoint/2010/main" val="1066294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45034"/>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685925"/>
            <a:ext cx="10515600" cy="4827042"/>
          </a:xfrm>
        </p:spPr>
        <p:txBody>
          <a:bodyPr>
            <a:normAutofit/>
          </a:bodyPr>
          <a:lstStyle/>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This project demonstrates efficient large-scale web server log analysis using Apache Spark.</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Distributed and in-memory processing enables faster log data processing.</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The system provides real-time insights through an interactive dashboard.</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It also detects anomalies, error patterns, and traffic behavior.</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The system helps in server monitoring, performance analysis, and security analysis.</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b="1" dirty="0">
                <a:latin typeface="Times New Roman" panose="02020603050405020304" pitchFamily="18" charset="0"/>
                <a:cs typeface="Times New Roman" panose="02020603050405020304" pitchFamily="18" charset="0"/>
              </a:rPr>
              <a:t>Future Work</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Implement real-time log analysis using Spark Streaming.</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Integrate with security monitoring and alert systems.</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Apply machine learning for advanced anomaly detection.</a:t>
            </a: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Deploy the system on cloud platforms for scalability.</a:t>
            </a: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01-04-2026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3   </a:t>
            </a:r>
          </a:p>
        </p:txBody>
      </p:sp>
      <p:pic>
        <p:nvPicPr>
          <p:cNvPr id="11" name="Picture 10">
            <a:extLst>
              <a:ext uri="{FF2B5EF4-FFF2-40B4-BE49-F238E27FC236}">
                <a16:creationId xmlns:a16="http://schemas.microsoft.com/office/drawing/2014/main" id="{CE9123BC-8581-4BF8-B0BB-CC08FA96FBAE}"/>
              </a:ext>
            </a:extLst>
          </p:cNvPr>
          <p:cNvPicPr>
            <a:picLocks noChangeAspect="1"/>
          </p:cNvPicPr>
          <p:nvPr/>
        </p:nvPicPr>
        <p:blipFill>
          <a:blip r:embed="rId3"/>
          <a:stretch>
            <a:fillRect/>
          </a:stretch>
        </p:blipFill>
        <p:spPr>
          <a:xfrm>
            <a:off x="8024812" y="3806333"/>
            <a:ext cx="3200400" cy="1629051"/>
          </a:xfrm>
          <a:prstGeom prst="rect">
            <a:avLst/>
          </a:prstGeom>
        </p:spPr>
      </p:pic>
    </p:spTree>
    <p:extLst>
      <p:ext uri="{BB962C8B-B14F-4D97-AF65-F5344CB8AC3E}">
        <p14:creationId xmlns:p14="http://schemas.microsoft.com/office/powerpoint/2010/main" val="716463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01-04-2026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16</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1413</Words>
  <Application>Microsoft Office PowerPoint</Application>
  <PresentationFormat>Widescreen</PresentationFormat>
  <Paragraphs>220</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Custom Design</vt:lpstr>
      <vt:lpstr>Web Server Log Analysis using Big Data  REVIEW – 1  </vt:lpstr>
      <vt:lpstr>Outline</vt:lpstr>
      <vt:lpstr>Abstract</vt:lpstr>
      <vt:lpstr>Introduction</vt:lpstr>
      <vt:lpstr>Proposed Method</vt:lpstr>
      <vt:lpstr>Objectives </vt:lpstr>
      <vt:lpstr>Module-wise Implementations</vt:lpstr>
      <vt:lpstr>Literature Survey</vt:lpstr>
      <vt:lpstr>PowerPoint Presentation</vt:lpstr>
      <vt:lpstr>Implementation</vt:lpstr>
      <vt:lpstr>Comparison and Discussion</vt:lpstr>
      <vt:lpstr>PowerPoint Presentation</vt:lpstr>
      <vt:lpstr>PowerPoint Presentation</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Server Log Analysis using Big Data  REVIEW – 1</dc:title>
  <dc:creator>Dell</dc:creator>
  <cp:lastModifiedBy>Manaswi 12</cp:lastModifiedBy>
  <cp:revision>24</cp:revision>
  <dcterms:modified xsi:type="dcterms:W3CDTF">2026-04-01T06:12:20Z</dcterms:modified>
</cp:coreProperties>
</file>